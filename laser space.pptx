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7" r:id="rId1"/>
    <p:sldMasterId id="2147484008" r:id="rId2"/>
  </p:sldMasterIdLst>
  <p:sldIdLst>
    <p:sldId id="256" r:id="rId3"/>
    <p:sldId id="257" r:id="rId4"/>
    <p:sldId id="258" r:id="rId5"/>
    <p:sldId id="260" r:id="rId6"/>
    <p:sldId id="259" r:id="rId7"/>
    <p:sldId id="261" r:id="rId8"/>
    <p:sldId id="269" r:id="rId9"/>
    <p:sldId id="262" r:id="rId10"/>
    <p:sldId id="270" r:id="rId11"/>
    <p:sldId id="263" r:id="rId12"/>
    <p:sldId id="264" r:id="rId13"/>
    <p:sldId id="271" r:id="rId14"/>
    <p:sldId id="265" r:id="rId15"/>
    <p:sldId id="272" r:id="rId16"/>
    <p:sldId id="266" r:id="rId17"/>
    <p:sldId id="26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FEECE-06FA-427F-A019-0834EF37D33D}" v="195" dt="2026-01-13T07:23:11.058"/>
    <p1510:client id="{24578A2F-6D16-4090-9837-10A51B62E3DC}" v="1533" dt="2026-01-12T16:26:09.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EFA2E0-EFB7-4A53-8AB2-A6331D163BA1}" type="doc">
      <dgm:prSet loTypeId="urn:microsoft.com/office/officeart/2016/7/layout/LinearArrowProcessNumbered" loCatId="process" qsTypeId="urn:microsoft.com/office/officeart/2005/8/quickstyle/simple1" qsCatId="simple" csTypeId="urn:microsoft.com/office/officeart/2005/8/colors/colorful1" csCatId="colorful"/>
      <dgm:spPr/>
      <dgm:t>
        <a:bodyPr/>
        <a:lstStyle/>
        <a:p>
          <a:endParaRPr lang="en-US"/>
        </a:p>
      </dgm:t>
    </dgm:pt>
    <dgm:pt modelId="{0915D38A-D546-4616-87DB-32C42EB7D3C4}">
      <dgm:prSet/>
      <dgm:spPr/>
      <dgm:t>
        <a:bodyPr/>
        <a:lstStyle/>
        <a:p>
          <a:r>
            <a:rPr lang="en-US" dirty="0"/>
            <a:t>Laser Communication Terminals (LCTs) use highly focused </a:t>
          </a:r>
          <a:r>
            <a:rPr lang="en-US" b="1" dirty="0"/>
            <a:t>laser beams (free-space optics)</a:t>
          </a:r>
          <a:r>
            <a:rPr lang="en-US" dirty="0"/>
            <a:t> to transmit data between satellites or between space and ground stations, offering significantly </a:t>
          </a:r>
          <a:r>
            <a:rPr lang="en-US" b="1" dirty="0"/>
            <a:t>higher data rates</a:t>
          </a:r>
          <a:r>
            <a:rPr lang="en-US" dirty="0"/>
            <a:t>, </a:t>
          </a:r>
          <a:r>
            <a:rPr lang="en-US" b="1" dirty="0"/>
            <a:t>enhanced security</a:t>
          </a:r>
          <a:r>
            <a:rPr lang="en-US" dirty="0"/>
            <a:t>, and </a:t>
          </a:r>
          <a:r>
            <a:rPr lang="en-US" b="1" dirty="0"/>
            <a:t>reduced interference</a:t>
          </a:r>
          <a:r>
            <a:rPr lang="en-US" dirty="0"/>
            <a:t> compared to traditional radio frequency (RF) systems. </a:t>
          </a:r>
        </a:p>
      </dgm:t>
    </dgm:pt>
    <dgm:pt modelId="{0F897456-9238-4BB0-BB11-4DE495591D4E}" type="parTrans" cxnId="{EF0B884F-FA4A-4EA5-93DC-47DF802ACCA4}">
      <dgm:prSet/>
      <dgm:spPr/>
      <dgm:t>
        <a:bodyPr/>
        <a:lstStyle/>
        <a:p>
          <a:endParaRPr lang="en-US"/>
        </a:p>
      </dgm:t>
    </dgm:pt>
    <dgm:pt modelId="{9DFC208C-A773-48DB-A4C5-CB38F9DC8B44}" type="sibTrans" cxnId="{EF0B884F-FA4A-4EA5-93DC-47DF802ACCA4}">
      <dgm:prSet phldrT="1" phldr="0"/>
      <dgm:spPr/>
      <dgm:t>
        <a:bodyPr/>
        <a:lstStyle/>
        <a:p>
          <a:r>
            <a:rPr lang="en-US"/>
            <a:t>1</a:t>
          </a:r>
        </a:p>
      </dgm:t>
    </dgm:pt>
    <dgm:pt modelId="{E650F9B2-5CAD-4E9F-928D-B8D2F65B065F}">
      <dgm:prSet/>
      <dgm:spPr/>
      <dgm:t>
        <a:bodyPr/>
        <a:lstStyle/>
        <a:p>
          <a:r>
            <a:rPr lang="en-US" b="1" dirty="0"/>
            <a:t>Free-Space Optical (FSO) Technology:</a:t>
          </a:r>
          <a:r>
            <a:rPr lang="en-US" dirty="0"/>
            <a:t> This is the foundational technology for LCTs. It uses light propagating through space (or the atmosphere) as the communication medium, rather than radio waves or fiber optic cables.</a:t>
          </a:r>
        </a:p>
      </dgm:t>
    </dgm:pt>
    <dgm:pt modelId="{0B9FE6F7-AB83-438B-BE51-22A57D38DB20}" type="parTrans" cxnId="{BC88AF3E-E486-4CA8-A5E1-C369EB795C35}">
      <dgm:prSet/>
      <dgm:spPr/>
      <dgm:t>
        <a:bodyPr/>
        <a:lstStyle/>
        <a:p>
          <a:endParaRPr lang="en-US"/>
        </a:p>
      </dgm:t>
    </dgm:pt>
    <dgm:pt modelId="{C46CA6AE-543E-40C4-AEF9-0EF2468B8DE8}" type="sibTrans" cxnId="{BC88AF3E-E486-4CA8-A5E1-C369EB795C35}">
      <dgm:prSet phldrT="2" phldr="0"/>
      <dgm:spPr/>
      <dgm:t>
        <a:bodyPr/>
        <a:lstStyle/>
        <a:p>
          <a:r>
            <a:rPr lang="en-US"/>
            <a:t>2</a:t>
          </a:r>
        </a:p>
      </dgm:t>
    </dgm:pt>
    <dgm:pt modelId="{213E99E3-B918-41BC-9B7E-234E9BA39B89}">
      <dgm:prSet/>
      <dgm:spPr/>
      <dgm:t>
        <a:bodyPr/>
        <a:lstStyle/>
        <a:p>
          <a:r>
            <a:rPr lang="en-US" b="1" dirty="0"/>
            <a:t>High Data Rates:</a:t>
          </a:r>
          <a:r>
            <a:rPr lang="en-US" dirty="0"/>
            <a:t> A primary advantage of LCTs is their ability to achieve very high data transfer rates, often in the gigabits per second (Gbps) to hundreds of Gbps range. This is crucial for transmitting large amounts of data, such as high-resolution Earth observation imagery.</a:t>
          </a:r>
        </a:p>
      </dgm:t>
    </dgm:pt>
    <dgm:pt modelId="{12A8F268-3D9E-4622-8771-4E27A163AFF8}" type="parTrans" cxnId="{39F5174B-59A4-4FD7-B9C1-8A74B2B2CC8C}">
      <dgm:prSet/>
      <dgm:spPr/>
      <dgm:t>
        <a:bodyPr/>
        <a:lstStyle/>
        <a:p>
          <a:endParaRPr lang="en-US"/>
        </a:p>
      </dgm:t>
    </dgm:pt>
    <dgm:pt modelId="{FB819C8A-4F26-4031-A266-8610B49E17F7}" type="sibTrans" cxnId="{39F5174B-59A4-4FD7-B9C1-8A74B2B2CC8C}">
      <dgm:prSet phldrT="3" phldr="0"/>
      <dgm:spPr/>
      <dgm:t>
        <a:bodyPr/>
        <a:lstStyle/>
        <a:p>
          <a:r>
            <a:rPr lang="en-US"/>
            <a:t>3</a:t>
          </a:r>
        </a:p>
      </dgm:t>
    </dgm:pt>
    <dgm:pt modelId="{887A6260-5757-4F64-899F-8409A2628E04}">
      <dgm:prSet/>
      <dgm:spPr/>
      <dgm:t>
        <a:bodyPr/>
        <a:lstStyle/>
        <a:p>
          <a:r>
            <a:rPr lang="en-US" b="1" dirty="0"/>
            <a:t>Narrow, Directional Beams:</a:t>
          </a:r>
          <a:r>
            <a:rPr lang="en-US" dirty="0"/>
            <a:t> LCTs use highly collimated laser beams, which are much narrower than RF beams. This narrowness provides:</a:t>
          </a:r>
        </a:p>
      </dgm:t>
    </dgm:pt>
    <dgm:pt modelId="{6FBF10A7-9A97-4F37-AA16-A7353406C148}" type="parTrans" cxnId="{1ED5CF63-9A71-4564-ADCF-383A4CFF451F}">
      <dgm:prSet/>
      <dgm:spPr/>
      <dgm:t>
        <a:bodyPr/>
        <a:lstStyle/>
        <a:p>
          <a:endParaRPr lang="en-US"/>
        </a:p>
      </dgm:t>
    </dgm:pt>
    <dgm:pt modelId="{C9113348-F3A4-4C16-B357-410CBF941A57}" type="sibTrans" cxnId="{1ED5CF63-9A71-4564-ADCF-383A4CFF451F}">
      <dgm:prSet phldrT="4" phldr="0"/>
      <dgm:spPr/>
      <dgm:t>
        <a:bodyPr/>
        <a:lstStyle/>
        <a:p>
          <a:r>
            <a:rPr lang="en-US"/>
            <a:t>4</a:t>
          </a:r>
        </a:p>
      </dgm:t>
    </dgm:pt>
    <dgm:pt modelId="{B5D01012-5DE8-47EB-8260-5A993DC5755E}">
      <dgm:prSet/>
      <dgm:spPr/>
      <dgm:t>
        <a:bodyPr/>
        <a:lstStyle/>
        <a:p>
          <a:r>
            <a:rPr lang="en-US" b="1" dirty="0"/>
            <a:t>Reduced Interference:</a:t>
          </a:r>
          <a:r>
            <a:rPr lang="en-US" dirty="0"/>
            <a:t> Multiple links can exist in close proximity without interfering with each other.</a:t>
          </a:r>
        </a:p>
      </dgm:t>
    </dgm:pt>
    <dgm:pt modelId="{E7B27153-EEE2-43A4-A404-21C5F64F82B5}" type="parTrans" cxnId="{77FFAA68-B4E0-4D1F-8E3A-A829FCCBF6CE}">
      <dgm:prSet/>
      <dgm:spPr/>
      <dgm:t>
        <a:bodyPr/>
        <a:lstStyle/>
        <a:p>
          <a:endParaRPr lang="en-US"/>
        </a:p>
      </dgm:t>
    </dgm:pt>
    <dgm:pt modelId="{A3C47313-2DFA-478D-80A4-0B6CF1AACE0C}" type="sibTrans" cxnId="{77FFAA68-B4E0-4D1F-8E3A-A829FCCBF6CE}">
      <dgm:prSet/>
      <dgm:spPr/>
      <dgm:t>
        <a:bodyPr/>
        <a:lstStyle/>
        <a:p>
          <a:endParaRPr lang="en-US"/>
        </a:p>
      </dgm:t>
    </dgm:pt>
    <dgm:pt modelId="{3D58CE20-4585-4188-9DCC-B2CF2F2710C8}">
      <dgm:prSet/>
      <dgm:spPr/>
      <dgm:t>
        <a:bodyPr/>
        <a:lstStyle/>
        <a:p>
          <a:r>
            <a:rPr lang="en-US" b="1" dirty="0"/>
            <a:t>Enhanced Security:</a:t>
          </a:r>
          <a:r>
            <a:rPr lang="en-US" dirty="0"/>
            <a:t> The focused beam is difficult for unauthorized parties to intercept, making it ideal for sensitive communications.</a:t>
          </a:r>
        </a:p>
      </dgm:t>
    </dgm:pt>
    <dgm:pt modelId="{35A7C772-C84A-4D3A-984C-416210519BE5}" type="parTrans" cxnId="{358ECDF5-5F44-4F4D-A440-3B032B58A04E}">
      <dgm:prSet/>
      <dgm:spPr/>
      <dgm:t>
        <a:bodyPr/>
        <a:lstStyle/>
        <a:p>
          <a:endParaRPr lang="en-US"/>
        </a:p>
      </dgm:t>
    </dgm:pt>
    <dgm:pt modelId="{71C4D04E-42CE-4661-8AA7-14A11E14B251}" type="sibTrans" cxnId="{358ECDF5-5F44-4F4D-A440-3B032B58A04E}">
      <dgm:prSet/>
      <dgm:spPr/>
      <dgm:t>
        <a:bodyPr/>
        <a:lstStyle/>
        <a:p>
          <a:endParaRPr lang="en-US"/>
        </a:p>
      </dgm:t>
    </dgm:pt>
    <dgm:pt modelId="{AB9ABA06-C208-44AF-A820-9A307777AA9F}" type="pres">
      <dgm:prSet presAssocID="{CBEFA2E0-EFB7-4A53-8AB2-A6331D163BA1}" presName="linearFlow" presStyleCnt="0">
        <dgm:presLayoutVars>
          <dgm:dir/>
          <dgm:animLvl val="lvl"/>
          <dgm:resizeHandles val="exact"/>
        </dgm:presLayoutVars>
      </dgm:prSet>
      <dgm:spPr/>
    </dgm:pt>
    <dgm:pt modelId="{0B457898-3765-4F0B-915B-36B205B012AA}" type="pres">
      <dgm:prSet presAssocID="{0915D38A-D546-4616-87DB-32C42EB7D3C4}" presName="compositeNode" presStyleCnt="0"/>
      <dgm:spPr/>
    </dgm:pt>
    <dgm:pt modelId="{4B8A9CB0-A746-4A4A-B783-8E0F022D51E1}" type="pres">
      <dgm:prSet presAssocID="{0915D38A-D546-4616-87DB-32C42EB7D3C4}" presName="parTx" presStyleLbl="node1" presStyleIdx="0" presStyleCnt="0">
        <dgm:presLayoutVars>
          <dgm:chMax val="0"/>
          <dgm:chPref val="0"/>
          <dgm:bulletEnabled val="1"/>
        </dgm:presLayoutVars>
      </dgm:prSet>
      <dgm:spPr/>
    </dgm:pt>
    <dgm:pt modelId="{68EA13AA-E611-4E06-8666-F6641CFBFFE0}" type="pres">
      <dgm:prSet presAssocID="{0915D38A-D546-4616-87DB-32C42EB7D3C4}" presName="parSh" presStyleCnt="0"/>
      <dgm:spPr/>
    </dgm:pt>
    <dgm:pt modelId="{7B9C2A59-1DA1-437F-BF87-281C15CEF20E}" type="pres">
      <dgm:prSet presAssocID="{0915D38A-D546-4616-87DB-32C42EB7D3C4}" presName="lineNode" presStyleLbl="alignAccFollowNode1" presStyleIdx="0" presStyleCnt="12"/>
      <dgm:spPr/>
    </dgm:pt>
    <dgm:pt modelId="{E1A95913-63AA-4BB4-94D6-40EBFE3EC1CF}" type="pres">
      <dgm:prSet presAssocID="{0915D38A-D546-4616-87DB-32C42EB7D3C4}" presName="lineArrowNode" presStyleLbl="alignAccFollowNode1" presStyleIdx="1" presStyleCnt="12"/>
      <dgm:spPr/>
    </dgm:pt>
    <dgm:pt modelId="{0C3AFED5-D6C7-42FB-8A17-C130435FBAAA}" type="pres">
      <dgm:prSet presAssocID="{9DFC208C-A773-48DB-A4C5-CB38F9DC8B44}" presName="sibTransNodeCircle" presStyleLbl="alignNode1" presStyleIdx="0" presStyleCnt="4">
        <dgm:presLayoutVars>
          <dgm:chMax val="0"/>
          <dgm:bulletEnabled/>
        </dgm:presLayoutVars>
      </dgm:prSet>
      <dgm:spPr/>
    </dgm:pt>
    <dgm:pt modelId="{DFEDBB5C-F2E7-4B38-B860-F1BD9AE51D4B}" type="pres">
      <dgm:prSet presAssocID="{9DFC208C-A773-48DB-A4C5-CB38F9DC8B44}" presName="spacerBetweenCircleAndCallout" presStyleCnt="0">
        <dgm:presLayoutVars/>
      </dgm:prSet>
      <dgm:spPr/>
    </dgm:pt>
    <dgm:pt modelId="{9BCF9F10-75FD-4B44-894A-771C48EFFD7D}" type="pres">
      <dgm:prSet presAssocID="{0915D38A-D546-4616-87DB-32C42EB7D3C4}" presName="nodeText" presStyleLbl="alignAccFollowNode1" presStyleIdx="2" presStyleCnt="12">
        <dgm:presLayoutVars>
          <dgm:bulletEnabled val="1"/>
        </dgm:presLayoutVars>
      </dgm:prSet>
      <dgm:spPr/>
    </dgm:pt>
    <dgm:pt modelId="{1552ADD7-D28A-441C-BFBF-30F2CC1A59AC}" type="pres">
      <dgm:prSet presAssocID="{9DFC208C-A773-48DB-A4C5-CB38F9DC8B44}" presName="sibTransComposite" presStyleCnt="0"/>
      <dgm:spPr/>
    </dgm:pt>
    <dgm:pt modelId="{A65D6A6B-F76A-4A22-90B1-17AA7D9B5A6A}" type="pres">
      <dgm:prSet presAssocID="{E650F9B2-5CAD-4E9F-928D-B8D2F65B065F}" presName="compositeNode" presStyleCnt="0"/>
      <dgm:spPr/>
    </dgm:pt>
    <dgm:pt modelId="{8898A186-144D-46C6-8844-D0B6F07A9B4E}" type="pres">
      <dgm:prSet presAssocID="{E650F9B2-5CAD-4E9F-928D-B8D2F65B065F}" presName="parTx" presStyleLbl="node1" presStyleIdx="0" presStyleCnt="0">
        <dgm:presLayoutVars>
          <dgm:chMax val="0"/>
          <dgm:chPref val="0"/>
          <dgm:bulletEnabled val="1"/>
        </dgm:presLayoutVars>
      </dgm:prSet>
      <dgm:spPr/>
    </dgm:pt>
    <dgm:pt modelId="{391EED26-DCA6-478D-8B6C-2E66D1A3F609}" type="pres">
      <dgm:prSet presAssocID="{E650F9B2-5CAD-4E9F-928D-B8D2F65B065F}" presName="parSh" presStyleCnt="0"/>
      <dgm:spPr/>
    </dgm:pt>
    <dgm:pt modelId="{4F0166FA-6FA8-4D7B-90D9-2CE4F04B23E4}" type="pres">
      <dgm:prSet presAssocID="{E650F9B2-5CAD-4E9F-928D-B8D2F65B065F}" presName="lineNode" presStyleLbl="alignAccFollowNode1" presStyleIdx="3" presStyleCnt="12"/>
      <dgm:spPr/>
    </dgm:pt>
    <dgm:pt modelId="{E029D104-E02E-420F-BB09-5CA3FB74CCBB}" type="pres">
      <dgm:prSet presAssocID="{E650F9B2-5CAD-4E9F-928D-B8D2F65B065F}" presName="lineArrowNode" presStyleLbl="alignAccFollowNode1" presStyleIdx="4" presStyleCnt="12"/>
      <dgm:spPr/>
    </dgm:pt>
    <dgm:pt modelId="{7E7A00A6-8B7A-4098-8C9E-B0A40AF8E34E}" type="pres">
      <dgm:prSet presAssocID="{C46CA6AE-543E-40C4-AEF9-0EF2468B8DE8}" presName="sibTransNodeCircle" presStyleLbl="alignNode1" presStyleIdx="1" presStyleCnt="4">
        <dgm:presLayoutVars>
          <dgm:chMax val="0"/>
          <dgm:bulletEnabled/>
        </dgm:presLayoutVars>
      </dgm:prSet>
      <dgm:spPr/>
    </dgm:pt>
    <dgm:pt modelId="{225751D1-6A45-4DCB-9E1C-29702648F973}" type="pres">
      <dgm:prSet presAssocID="{C46CA6AE-543E-40C4-AEF9-0EF2468B8DE8}" presName="spacerBetweenCircleAndCallout" presStyleCnt="0">
        <dgm:presLayoutVars/>
      </dgm:prSet>
      <dgm:spPr/>
    </dgm:pt>
    <dgm:pt modelId="{B069C48C-3873-4689-AFBE-66B542C0D25F}" type="pres">
      <dgm:prSet presAssocID="{E650F9B2-5CAD-4E9F-928D-B8D2F65B065F}" presName="nodeText" presStyleLbl="alignAccFollowNode1" presStyleIdx="5" presStyleCnt="12">
        <dgm:presLayoutVars>
          <dgm:bulletEnabled val="1"/>
        </dgm:presLayoutVars>
      </dgm:prSet>
      <dgm:spPr/>
    </dgm:pt>
    <dgm:pt modelId="{6E27DE93-B00A-46C4-8EFA-53C391640608}" type="pres">
      <dgm:prSet presAssocID="{C46CA6AE-543E-40C4-AEF9-0EF2468B8DE8}" presName="sibTransComposite" presStyleCnt="0"/>
      <dgm:spPr/>
    </dgm:pt>
    <dgm:pt modelId="{AE045CF8-DF76-4223-98B0-6F1A46BC8527}" type="pres">
      <dgm:prSet presAssocID="{213E99E3-B918-41BC-9B7E-234E9BA39B89}" presName="compositeNode" presStyleCnt="0"/>
      <dgm:spPr/>
    </dgm:pt>
    <dgm:pt modelId="{B7F9AE77-8335-4006-A5E3-BF6E59176C8F}" type="pres">
      <dgm:prSet presAssocID="{213E99E3-B918-41BC-9B7E-234E9BA39B89}" presName="parTx" presStyleLbl="node1" presStyleIdx="0" presStyleCnt="0">
        <dgm:presLayoutVars>
          <dgm:chMax val="0"/>
          <dgm:chPref val="0"/>
          <dgm:bulletEnabled val="1"/>
        </dgm:presLayoutVars>
      </dgm:prSet>
      <dgm:spPr/>
    </dgm:pt>
    <dgm:pt modelId="{1E9835CF-B7C3-43F0-AE75-4FC0A731E022}" type="pres">
      <dgm:prSet presAssocID="{213E99E3-B918-41BC-9B7E-234E9BA39B89}" presName="parSh" presStyleCnt="0"/>
      <dgm:spPr/>
    </dgm:pt>
    <dgm:pt modelId="{CFF6184D-FBE8-430F-A7E7-4E47BEACF51F}" type="pres">
      <dgm:prSet presAssocID="{213E99E3-B918-41BC-9B7E-234E9BA39B89}" presName="lineNode" presStyleLbl="alignAccFollowNode1" presStyleIdx="6" presStyleCnt="12"/>
      <dgm:spPr/>
    </dgm:pt>
    <dgm:pt modelId="{F65DA18F-5784-4A43-ACFF-2621753F4ACD}" type="pres">
      <dgm:prSet presAssocID="{213E99E3-B918-41BC-9B7E-234E9BA39B89}" presName="lineArrowNode" presStyleLbl="alignAccFollowNode1" presStyleIdx="7" presStyleCnt="12"/>
      <dgm:spPr/>
    </dgm:pt>
    <dgm:pt modelId="{52C8F3A9-0ACA-4E67-83DB-970DB8FE57BD}" type="pres">
      <dgm:prSet presAssocID="{FB819C8A-4F26-4031-A266-8610B49E17F7}" presName="sibTransNodeCircle" presStyleLbl="alignNode1" presStyleIdx="2" presStyleCnt="4">
        <dgm:presLayoutVars>
          <dgm:chMax val="0"/>
          <dgm:bulletEnabled/>
        </dgm:presLayoutVars>
      </dgm:prSet>
      <dgm:spPr/>
    </dgm:pt>
    <dgm:pt modelId="{3051E408-A00A-43A6-8596-5ECB98B9C8C2}" type="pres">
      <dgm:prSet presAssocID="{FB819C8A-4F26-4031-A266-8610B49E17F7}" presName="spacerBetweenCircleAndCallout" presStyleCnt="0">
        <dgm:presLayoutVars/>
      </dgm:prSet>
      <dgm:spPr/>
    </dgm:pt>
    <dgm:pt modelId="{50BF1493-BC9D-4D07-AA1C-4FE33D7DA2A9}" type="pres">
      <dgm:prSet presAssocID="{213E99E3-B918-41BC-9B7E-234E9BA39B89}" presName="nodeText" presStyleLbl="alignAccFollowNode1" presStyleIdx="8" presStyleCnt="12">
        <dgm:presLayoutVars>
          <dgm:bulletEnabled val="1"/>
        </dgm:presLayoutVars>
      </dgm:prSet>
      <dgm:spPr/>
    </dgm:pt>
    <dgm:pt modelId="{240B6666-254F-4A3E-BCD7-EC992A85AF05}" type="pres">
      <dgm:prSet presAssocID="{FB819C8A-4F26-4031-A266-8610B49E17F7}" presName="sibTransComposite" presStyleCnt="0"/>
      <dgm:spPr/>
    </dgm:pt>
    <dgm:pt modelId="{5C271D0B-166B-4706-9E96-8D4F2B66F409}" type="pres">
      <dgm:prSet presAssocID="{887A6260-5757-4F64-899F-8409A2628E04}" presName="compositeNode" presStyleCnt="0"/>
      <dgm:spPr/>
    </dgm:pt>
    <dgm:pt modelId="{6D8D1E01-DCEF-4D9D-A339-2842D32E1DD5}" type="pres">
      <dgm:prSet presAssocID="{887A6260-5757-4F64-899F-8409A2628E04}" presName="parTx" presStyleLbl="node1" presStyleIdx="0" presStyleCnt="0">
        <dgm:presLayoutVars>
          <dgm:chMax val="0"/>
          <dgm:chPref val="0"/>
          <dgm:bulletEnabled val="1"/>
        </dgm:presLayoutVars>
      </dgm:prSet>
      <dgm:spPr/>
    </dgm:pt>
    <dgm:pt modelId="{D99B961C-4744-4E30-8D21-FFEFAD3F01AD}" type="pres">
      <dgm:prSet presAssocID="{887A6260-5757-4F64-899F-8409A2628E04}" presName="parSh" presStyleCnt="0"/>
      <dgm:spPr/>
    </dgm:pt>
    <dgm:pt modelId="{4D669325-5351-4943-BE90-58E70E7A8CC2}" type="pres">
      <dgm:prSet presAssocID="{887A6260-5757-4F64-899F-8409A2628E04}" presName="lineNode" presStyleLbl="alignAccFollowNode1" presStyleIdx="9" presStyleCnt="12"/>
      <dgm:spPr/>
    </dgm:pt>
    <dgm:pt modelId="{047F48A8-A504-4B65-B2E0-DA21A70C3BA0}" type="pres">
      <dgm:prSet presAssocID="{887A6260-5757-4F64-899F-8409A2628E04}" presName="lineArrowNode" presStyleLbl="alignAccFollowNode1" presStyleIdx="10" presStyleCnt="12"/>
      <dgm:spPr/>
    </dgm:pt>
    <dgm:pt modelId="{15A3DEB5-4C23-4512-B8BF-AFB4EA9AF713}" type="pres">
      <dgm:prSet presAssocID="{C9113348-F3A4-4C16-B357-410CBF941A57}" presName="sibTransNodeCircle" presStyleLbl="alignNode1" presStyleIdx="3" presStyleCnt="4">
        <dgm:presLayoutVars>
          <dgm:chMax val="0"/>
          <dgm:bulletEnabled/>
        </dgm:presLayoutVars>
      </dgm:prSet>
      <dgm:spPr/>
    </dgm:pt>
    <dgm:pt modelId="{3B886CE4-210B-4DDB-89B5-BB14E82DA196}" type="pres">
      <dgm:prSet presAssocID="{C9113348-F3A4-4C16-B357-410CBF941A57}" presName="spacerBetweenCircleAndCallout" presStyleCnt="0">
        <dgm:presLayoutVars/>
      </dgm:prSet>
      <dgm:spPr/>
    </dgm:pt>
    <dgm:pt modelId="{DF4D0531-FC5E-44FC-A3AE-2F476FB813D9}" type="pres">
      <dgm:prSet presAssocID="{887A6260-5757-4F64-899F-8409A2628E04}" presName="nodeText" presStyleLbl="alignAccFollowNode1" presStyleIdx="11" presStyleCnt="12">
        <dgm:presLayoutVars>
          <dgm:bulletEnabled val="1"/>
        </dgm:presLayoutVars>
      </dgm:prSet>
      <dgm:spPr/>
    </dgm:pt>
  </dgm:ptLst>
  <dgm:cxnLst>
    <dgm:cxn modelId="{E8FF4112-05E8-4526-A9C9-0377106AD406}" type="presOf" srcId="{C9113348-F3A4-4C16-B357-410CBF941A57}" destId="{15A3DEB5-4C23-4512-B8BF-AFB4EA9AF713}" srcOrd="0" destOrd="0" presId="urn:microsoft.com/office/officeart/2016/7/layout/LinearArrowProcessNumbered"/>
    <dgm:cxn modelId="{7F435329-9344-4A0B-8F86-93D01204B181}" type="presOf" srcId="{E650F9B2-5CAD-4E9F-928D-B8D2F65B065F}" destId="{B069C48C-3873-4689-AFBE-66B542C0D25F}" srcOrd="0" destOrd="0" presId="urn:microsoft.com/office/officeart/2016/7/layout/LinearArrowProcessNumbered"/>
    <dgm:cxn modelId="{BC88AF3E-E486-4CA8-A5E1-C369EB795C35}" srcId="{CBEFA2E0-EFB7-4A53-8AB2-A6331D163BA1}" destId="{E650F9B2-5CAD-4E9F-928D-B8D2F65B065F}" srcOrd="1" destOrd="0" parTransId="{0B9FE6F7-AB83-438B-BE51-22A57D38DB20}" sibTransId="{C46CA6AE-543E-40C4-AEF9-0EF2468B8DE8}"/>
    <dgm:cxn modelId="{1ED5CF63-9A71-4564-ADCF-383A4CFF451F}" srcId="{CBEFA2E0-EFB7-4A53-8AB2-A6331D163BA1}" destId="{887A6260-5757-4F64-899F-8409A2628E04}" srcOrd="3" destOrd="0" parTransId="{6FBF10A7-9A97-4F37-AA16-A7353406C148}" sibTransId="{C9113348-F3A4-4C16-B357-410CBF941A57}"/>
    <dgm:cxn modelId="{77FFAA68-B4E0-4D1F-8E3A-A829FCCBF6CE}" srcId="{887A6260-5757-4F64-899F-8409A2628E04}" destId="{B5D01012-5DE8-47EB-8260-5A993DC5755E}" srcOrd="0" destOrd="0" parTransId="{E7B27153-EEE2-43A4-A404-21C5F64F82B5}" sibTransId="{A3C47313-2DFA-478D-80A4-0B6CF1AACE0C}"/>
    <dgm:cxn modelId="{B12A9E49-FB17-4B49-A0C6-48D0994C43B6}" type="presOf" srcId="{C46CA6AE-543E-40C4-AEF9-0EF2468B8DE8}" destId="{7E7A00A6-8B7A-4098-8C9E-B0A40AF8E34E}" srcOrd="0" destOrd="0" presId="urn:microsoft.com/office/officeart/2016/7/layout/LinearArrowProcessNumbered"/>
    <dgm:cxn modelId="{39F5174B-59A4-4FD7-B9C1-8A74B2B2CC8C}" srcId="{CBEFA2E0-EFB7-4A53-8AB2-A6331D163BA1}" destId="{213E99E3-B918-41BC-9B7E-234E9BA39B89}" srcOrd="2" destOrd="0" parTransId="{12A8F268-3D9E-4622-8771-4E27A163AFF8}" sibTransId="{FB819C8A-4F26-4031-A266-8610B49E17F7}"/>
    <dgm:cxn modelId="{EF0B884F-FA4A-4EA5-93DC-47DF802ACCA4}" srcId="{CBEFA2E0-EFB7-4A53-8AB2-A6331D163BA1}" destId="{0915D38A-D546-4616-87DB-32C42EB7D3C4}" srcOrd="0" destOrd="0" parTransId="{0F897456-9238-4BB0-BB11-4DE495591D4E}" sibTransId="{9DFC208C-A773-48DB-A4C5-CB38F9DC8B44}"/>
    <dgm:cxn modelId="{B1C67682-49D8-4159-A7A8-3E4E631C8AB1}" type="presOf" srcId="{213E99E3-B918-41BC-9B7E-234E9BA39B89}" destId="{50BF1493-BC9D-4D07-AA1C-4FE33D7DA2A9}" srcOrd="0" destOrd="0" presId="urn:microsoft.com/office/officeart/2016/7/layout/LinearArrowProcessNumbered"/>
    <dgm:cxn modelId="{E89AA38B-CC22-4D1A-9BAB-EE39BEDA9422}" type="presOf" srcId="{887A6260-5757-4F64-899F-8409A2628E04}" destId="{DF4D0531-FC5E-44FC-A3AE-2F476FB813D9}" srcOrd="0" destOrd="0" presId="urn:microsoft.com/office/officeart/2016/7/layout/LinearArrowProcessNumbered"/>
    <dgm:cxn modelId="{0C0157BD-F405-4C24-B51C-496803BF947E}" type="presOf" srcId="{3D58CE20-4585-4188-9DCC-B2CF2F2710C8}" destId="{DF4D0531-FC5E-44FC-A3AE-2F476FB813D9}" srcOrd="0" destOrd="2" presId="urn:microsoft.com/office/officeart/2016/7/layout/LinearArrowProcessNumbered"/>
    <dgm:cxn modelId="{55BB4ACB-8D62-4595-A7A7-8EA932978ADC}" type="presOf" srcId="{0915D38A-D546-4616-87DB-32C42EB7D3C4}" destId="{9BCF9F10-75FD-4B44-894A-771C48EFFD7D}" srcOrd="0" destOrd="0" presId="urn:microsoft.com/office/officeart/2016/7/layout/LinearArrowProcessNumbered"/>
    <dgm:cxn modelId="{ABEE74D1-6B76-42A7-B02D-37B8694D486C}" type="presOf" srcId="{9DFC208C-A773-48DB-A4C5-CB38F9DC8B44}" destId="{0C3AFED5-D6C7-42FB-8A17-C130435FBAAA}" srcOrd="0" destOrd="0" presId="urn:microsoft.com/office/officeart/2016/7/layout/LinearArrowProcessNumbered"/>
    <dgm:cxn modelId="{7AAEBFDE-62FF-4BF7-ABD7-9F7E97D2CCDA}" type="presOf" srcId="{CBEFA2E0-EFB7-4A53-8AB2-A6331D163BA1}" destId="{AB9ABA06-C208-44AF-A820-9A307777AA9F}" srcOrd="0" destOrd="0" presId="urn:microsoft.com/office/officeart/2016/7/layout/LinearArrowProcessNumbered"/>
    <dgm:cxn modelId="{711BCEEB-6480-4749-9581-03DCBDFE666D}" type="presOf" srcId="{B5D01012-5DE8-47EB-8260-5A993DC5755E}" destId="{DF4D0531-FC5E-44FC-A3AE-2F476FB813D9}" srcOrd="0" destOrd="1" presId="urn:microsoft.com/office/officeart/2016/7/layout/LinearArrowProcessNumbered"/>
    <dgm:cxn modelId="{576429F2-597A-4D65-8360-01A0BA968077}" type="presOf" srcId="{FB819C8A-4F26-4031-A266-8610B49E17F7}" destId="{52C8F3A9-0ACA-4E67-83DB-970DB8FE57BD}" srcOrd="0" destOrd="0" presId="urn:microsoft.com/office/officeart/2016/7/layout/LinearArrowProcessNumbered"/>
    <dgm:cxn modelId="{358ECDF5-5F44-4F4D-A440-3B032B58A04E}" srcId="{887A6260-5757-4F64-899F-8409A2628E04}" destId="{3D58CE20-4585-4188-9DCC-B2CF2F2710C8}" srcOrd="1" destOrd="0" parTransId="{35A7C772-C84A-4D3A-984C-416210519BE5}" sibTransId="{71C4D04E-42CE-4661-8AA7-14A11E14B251}"/>
    <dgm:cxn modelId="{9AF19E54-B315-4B98-AC9F-3D85AD3300F3}" type="presParOf" srcId="{AB9ABA06-C208-44AF-A820-9A307777AA9F}" destId="{0B457898-3765-4F0B-915B-36B205B012AA}" srcOrd="0" destOrd="0" presId="urn:microsoft.com/office/officeart/2016/7/layout/LinearArrowProcessNumbered"/>
    <dgm:cxn modelId="{F104ED9A-BC23-4F34-B678-D92628008EA3}" type="presParOf" srcId="{0B457898-3765-4F0B-915B-36B205B012AA}" destId="{4B8A9CB0-A746-4A4A-B783-8E0F022D51E1}" srcOrd="0" destOrd="0" presId="urn:microsoft.com/office/officeart/2016/7/layout/LinearArrowProcessNumbered"/>
    <dgm:cxn modelId="{5EAF701B-0B45-4163-86AC-D973AE0F2D4A}" type="presParOf" srcId="{0B457898-3765-4F0B-915B-36B205B012AA}" destId="{68EA13AA-E611-4E06-8666-F6641CFBFFE0}" srcOrd="1" destOrd="0" presId="urn:microsoft.com/office/officeart/2016/7/layout/LinearArrowProcessNumbered"/>
    <dgm:cxn modelId="{B7EC91AF-6F17-430D-A45B-F5F26D364944}" type="presParOf" srcId="{68EA13AA-E611-4E06-8666-F6641CFBFFE0}" destId="{7B9C2A59-1DA1-437F-BF87-281C15CEF20E}" srcOrd="0" destOrd="0" presId="urn:microsoft.com/office/officeart/2016/7/layout/LinearArrowProcessNumbered"/>
    <dgm:cxn modelId="{3093365A-2642-4049-94BD-C83D0D0E80E2}" type="presParOf" srcId="{68EA13AA-E611-4E06-8666-F6641CFBFFE0}" destId="{E1A95913-63AA-4BB4-94D6-40EBFE3EC1CF}" srcOrd="1" destOrd="0" presId="urn:microsoft.com/office/officeart/2016/7/layout/LinearArrowProcessNumbered"/>
    <dgm:cxn modelId="{48D75142-2CBF-4BC9-A867-E4C235E57568}" type="presParOf" srcId="{68EA13AA-E611-4E06-8666-F6641CFBFFE0}" destId="{0C3AFED5-D6C7-42FB-8A17-C130435FBAAA}" srcOrd="2" destOrd="0" presId="urn:microsoft.com/office/officeart/2016/7/layout/LinearArrowProcessNumbered"/>
    <dgm:cxn modelId="{B0EABD2C-C379-4719-BC39-2284C0F8E373}" type="presParOf" srcId="{68EA13AA-E611-4E06-8666-F6641CFBFFE0}" destId="{DFEDBB5C-F2E7-4B38-B860-F1BD9AE51D4B}" srcOrd="3" destOrd="0" presId="urn:microsoft.com/office/officeart/2016/7/layout/LinearArrowProcessNumbered"/>
    <dgm:cxn modelId="{167948AC-AD98-455C-A430-DE9F8BFC4F25}" type="presParOf" srcId="{0B457898-3765-4F0B-915B-36B205B012AA}" destId="{9BCF9F10-75FD-4B44-894A-771C48EFFD7D}" srcOrd="2" destOrd="0" presId="urn:microsoft.com/office/officeart/2016/7/layout/LinearArrowProcessNumbered"/>
    <dgm:cxn modelId="{2E6DA3FE-30C0-4FF1-9F3C-E52CB158CFA8}" type="presParOf" srcId="{AB9ABA06-C208-44AF-A820-9A307777AA9F}" destId="{1552ADD7-D28A-441C-BFBF-30F2CC1A59AC}" srcOrd="1" destOrd="0" presId="urn:microsoft.com/office/officeart/2016/7/layout/LinearArrowProcessNumbered"/>
    <dgm:cxn modelId="{5134E10C-3979-4042-B498-37098DC5D59B}" type="presParOf" srcId="{AB9ABA06-C208-44AF-A820-9A307777AA9F}" destId="{A65D6A6B-F76A-4A22-90B1-17AA7D9B5A6A}" srcOrd="2" destOrd="0" presId="urn:microsoft.com/office/officeart/2016/7/layout/LinearArrowProcessNumbered"/>
    <dgm:cxn modelId="{A5A9C270-A67D-4467-B577-9524D660CFD8}" type="presParOf" srcId="{A65D6A6B-F76A-4A22-90B1-17AA7D9B5A6A}" destId="{8898A186-144D-46C6-8844-D0B6F07A9B4E}" srcOrd="0" destOrd="0" presId="urn:microsoft.com/office/officeart/2016/7/layout/LinearArrowProcessNumbered"/>
    <dgm:cxn modelId="{3B7CCA73-020E-480F-9D41-D1D3DE1C9FFD}" type="presParOf" srcId="{A65D6A6B-F76A-4A22-90B1-17AA7D9B5A6A}" destId="{391EED26-DCA6-478D-8B6C-2E66D1A3F609}" srcOrd="1" destOrd="0" presId="urn:microsoft.com/office/officeart/2016/7/layout/LinearArrowProcessNumbered"/>
    <dgm:cxn modelId="{976AAD37-D8C9-401B-94FB-6A78EC06EA35}" type="presParOf" srcId="{391EED26-DCA6-478D-8B6C-2E66D1A3F609}" destId="{4F0166FA-6FA8-4D7B-90D9-2CE4F04B23E4}" srcOrd="0" destOrd="0" presId="urn:microsoft.com/office/officeart/2016/7/layout/LinearArrowProcessNumbered"/>
    <dgm:cxn modelId="{8D484904-574B-4B40-93D9-C945C3BE52AB}" type="presParOf" srcId="{391EED26-DCA6-478D-8B6C-2E66D1A3F609}" destId="{E029D104-E02E-420F-BB09-5CA3FB74CCBB}" srcOrd="1" destOrd="0" presId="urn:microsoft.com/office/officeart/2016/7/layout/LinearArrowProcessNumbered"/>
    <dgm:cxn modelId="{C507D08A-B63F-4096-82A4-97EDC638B1A8}" type="presParOf" srcId="{391EED26-DCA6-478D-8B6C-2E66D1A3F609}" destId="{7E7A00A6-8B7A-4098-8C9E-B0A40AF8E34E}" srcOrd="2" destOrd="0" presId="urn:microsoft.com/office/officeart/2016/7/layout/LinearArrowProcessNumbered"/>
    <dgm:cxn modelId="{044CE9EA-FD0F-4A92-B9A1-F5058AF39FBD}" type="presParOf" srcId="{391EED26-DCA6-478D-8B6C-2E66D1A3F609}" destId="{225751D1-6A45-4DCB-9E1C-29702648F973}" srcOrd="3" destOrd="0" presId="urn:microsoft.com/office/officeart/2016/7/layout/LinearArrowProcessNumbered"/>
    <dgm:cxn modelId="{7B110FAF-11A9-4C51-81C2-2D34B00F88C3}" type="presParOf" srcId="{A65D6A6B-F76A-4A22-90B1-17AA7D9B5A6A}" destId="{B069C48C-3873-4689-AFBE-66B542C0D25F}" srcOrd="2" destOrd="0" presId="urn:microsoft.com/office/officeart/2016/7/layout/LinearArrowProcessNumbered"/>
    <dgm:cxn modelId="{4A6B39A2-3039-4976-86A0-5133EEBE64B1}" type="presParOf" srcId="{AB9ABA06-C208-44AF-A820-9A307777AA9F}" destId="{6E27DE93-B00A-46C4-8EFA-53C391640608}" srcOrd="3" destOrd="0" presId="urn:microsoft.com/office/officeart/2016/7/layout/LinearArrowProcessNumbered"/>
    <dgm:cxn modelId="{7B9A203C-AA59-47A0-B6F7-6A5D4B05EA0B}" type="presParOf" srcId="{AB9ABA06-C208-44AF-A820-9A307777AA9F}" destId="{AE045CF8-DF76-4223-98B0-6F1A46BC8527}" srcOrd="4" destOrd="0" presId="urn:microsoft.com/office/officeart/2016/7/layout/LinearArrowProcessNumbered"/>
    <dgm:cxn modelId="{31F7AB3D-B00C-4BA8-843E-3D938DCF70C5}" type="presParOf" srcId="{AE045CF8-DF76-4223-98B0-6F1A46BC8527}" destId="{B7F9AE77-8335-4006-A5E3-BF6E59176C8F}" srcOrd="0" destOrd="0" presId="urn:microsoft.com/office/officeart/2016/7/layout/LinearArrowProcessNumbered"/>
    <dgm:cxn modelId="{5574F4CC-4398-456C-8523-514D39FB156B}" type="presParOf" srcId="{AE045CF8-DF76-4223-98B0-6F1A46BC8527}" destId="{1E9835CF-B7C3-43F0-AE75-4FC0A731E022}" srcOrd="1" destOrd="0" presId="urn:microsoft.com/office/officeart/2016/7/layout/LinearArrowProcessNumbered"/>
    <dgm:cxn modelId="{518B04D6-F0C3-4D30-806D-3C80E56F5CB2}" type="presParOf" srcId="{1E9835CF-B7C3-43F0-AE75-4FC0A731E022}" destId="{CFF6184D-FBE8-430F-A7E7-4E47BEACF51F}" srcOrd="0" destOrd="0" presId="urn:microsoft.com/office/officeart/2016/7/layout/LinearArrowProcessNumbered"/>
    <dgm:cxn modelId="{3D4B699B-094C-4B62-B59E-7EF6D733755B}" type="presParOf" srcId="{1E9835CF-B7C3-43F0-AE75-4FC0A731E022}" destId="{F65DA18F-5784-4A43-ACFF-2621753F4ACD}" srcOrd="1" destOrd="0" presId="urn:microsoft.com/office/officeart/2016/7/layout/LinearArrowProcessNumbered"/>
    <dgm:cxn modelId="{AB1C0373-0FB7-403B-AABD-4BB45B779536}" type="presParOf" srcId="{1E9835CF-B7C3-43F0-AE75-4FC0A731E022}" destId="{52C8F3A9-0ACA-4E67-83DB-970DB8FE57BD}" srcOrd="2" destOrd="0" presId="urn:microsoft.com/office/officeart/2016/7/layout/LinearArrowProcessNumbered"/>
    <dgm:cxn modelId="{403767EA-CA29-4B4B-92CC-D6A1238F08BB}" type="presParOf" srcId="{1E9835CF-B7C3-43F0-AE75-4FC0A731E022}" destId="{3051E408-A00A-43A6-8596-5ECB98B9C8C2}" srcOrd="3" destOrd="0" presId="urn:microsoft.com/office/officeart/2016/7/layout/LinearArrowProcessNumbered"/>
    <dgm:cxn modelId="{F6ABF957-76E2-4B93-B892-4848439B5EFE}" type="presParOf" srcId="{AE045CF8-DF76-4223-98B0-6F1A46BC8527}" destId="{50BF1493-BC9D-4D07-AA1C-4FE33D7DA2A9}" srcOrd="2" destOrd="0" presId="urn:microsoft.com/office/officeart/2016/7/layout/LinearArrowProcessNumbered"/>
    <dgm:cxn modelId="{AD07EE9A-F3EA-4E20-9F57-31CEFD4D8B49}" type="presParOf" srcId="{AB9ABA06-C208-44AF-A820-9A307777AA9F}" destId="{240B6666-254F-4A3E-BCD7-EC992A85AF05}" srcOrd="5" destOrd="0" presId="urn:microsoft.com/office/officeart/2016/7/layout/LinearArrowProcessNumbered"/>
    <dgm:cxn modelId="{488AF108-2A8B-4D1F-BF0F-DCFAC2A0A36A}" type="presParOf" srcId="{AB9ABA06-C208-44AF-A820-9A307777AA9F}" destId="{5C271D0B-166B-4706-9E96-8D4F2B66F409}" srcOrd="6" destOrd="0" presId="urn:microsoft.com/office/officeart/2016/7/layout/LinearArrowProcessNumbered"/>
    <dgm:cxn modelId="{D85854F1-3D31-471F-9A21-A15443962026}" type="presParOf" srcId="{5C271D0B-166B-4706-9E96-8D4F2B66F409}" destId="{6D8D1E01-DCEF-4D9D-A339-2842D32E1DD5}" srcOrd="0" destOrd="0" presId="urn:microsoft.com/office/officeart/2016/7/layout/LinearArrowProcessNumbered"/>
    <dgm:cxn modelId="{2B259C67-EE98-4335-BC2B-9994608A5BB0}" type="presParOf" srcId="{5C271D0B-166B-4706-9E96-8D4F2B66F409}" destId="{D99B961C-4744-4E30-8D21-FFEFAD3F01AD}" srcOrd="1" destOrd="0" presId="urn:microsoft.com/office/officeart/2016/7/layout/LinearArrowProcessNumbered"/>
    <dgm:cxn modelId="{28814D2B-AE2C-40B6-8458-77EE8B548EBB}" type="presParOf" srcId="{D99B961C-4744-4E30-8D21-FFEFAD3F01AD}" destId="{4D669325-5351-4943-BE90-58E70E7A8CC2}" srcOrd="0" destOrd="0" presId="urn:microsoft.com/office/officeart/2016/7/layout/LinearArrowProcessNumbered"/>
    <dgm:cxn modelId="{D30D7CE6-D2F1-4B49-B938-41006155E86F}" type="presParOf" srcId="{D99B961C-4744-4E30-8D21-FFEFAD3F01AD}" destId="{047F48A8-A504-4B65-B2E0-DA21A70C3BA0}" srcOrd="1" destOrd="0" presId="urn:microsoft.com/office/officeart/2016/7/layout/LinearArrowProcessNumbered"/>
    <dgm:cxn modelId="{116B4C66-ACFC-4FEF-BF81-F36A84A8D444}" type="presParOf" srcId="{D99B961C-4744-4E30-8D21-FFEFAD3F01AD}" destId="{15A3DEB5-4C23-4512-B8BF-AFB4EA9AF713}" srcOrd="2" destOrd="0" presId="urn:microsoft.com/office/officeart/2016/7/layout/LinearArrowProcessNumbered"/>
    <dgm:cxn modelId="{43DA8601-1F1F-453B-8CE8-C99F4546D646}" type="presParOf" srcId="{D99B961C-4744-4E30-8D21-FFEFAD3F01AD}" destId="{3B886CE4-210B-4DDB-89B5-BB14E82DA196}" srcOrd="3" destOrd="0" presId="urn:microsoft.com/office/officeart/2016/7/layout/LinearArrowProcessNumbered"/>
    <dgm:cxn modelId="{E04CBC11-D983-449B-8332-833123A7FB96}" type="presParOf" srcId="{5C271D0B-166B-4706-9E96-8D4F2B66F409}" destId="{DF4D0531-FC5E-44FC-A3AE-2F476FB813D9}"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C2A59-1DA1-437F-BF87-281C15CEF20E}">
      <dsp:nvSpPr>
        <dsp:cNvPr id="0" name=""/>
        <dsp:cNvSpPr/>
      </dsp:nvSpPr>
      <dsp:spPr>
        <a:xfrm>
          <a:off x="1391738" y="582677"/>
          <a:ext cx="1109054" cy="7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A95913-63AA-4BB4-94D6-40EBFE3EC1CF}">
      <dsp:nvSpPr>
        <dsp:cNvPr id="0" name=""/>
        <dsp:cNvSpPr/>
      </dsp:nvSpPr>
      <dsp:spPr>
        <a:xfrm>
          <a:off x="2567336" y="489553"/>
          <a:ext cx="127541" cy="239321"/>
        </a:xfrm>
        <a:prstGeom prst="chevron">
          <a:avLst>
            <a:gd name="adj" fmla="val 9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3AFED5-D6C7-42FB-8A17-C130435FBAAA}">
      <dsp:nvSpPr>
        <dsp:cNvPr id="0" name=""/>
        <dsp:cNvSpPr/>
      </dsp:nvSpPr>
      <dsp:spPr>
        <a:xfrm>
          <a:off x="670474" y="80"/>
          <a:ext cx="1165265" cy="116526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219" tIns="45219" rIns="45219" bIns="45219" numCol="1" spcCol="1270" anchor="ctr" anchorCtr="0">
          <a:noAutofit/>
        </a:bodyPr>
        <a:lstStyle/>
        <a:p>
          <a:pPr marL="0" lvl="0" indent="0" algn="ctr" defTabSz="2266950">
            <a:lnSpc>
              <a:spcPct val="90000"/>
            </a:lnSpc>
            <a:spcBef>
              <a:spcPct val="0"/>
            </a:spcBef>
            <a:spcAft>
              <a:spcPct val="35000"/>
            </a:spcAft>
            <a:buNone/>
          </a:pPr>
          <a:r>
            <a:rPr lang="en-US" sz="5100" kern="1200"/>
            <a:t>1</a:t>
          </a:r>
        </a:p>
      </dsp:txBody>
      <dsp:txXfrm>
        <a:off x="841123" y="170729"/>
        <a:ext cx="823967" cy="823967"/>
      </dsp:txXfrm>
    </dsp:sp>
    <dsp:sp modelId="{9BCF9F10-75FD-4B44-894A-771C48EFFD7D}">
      <dsp:nvSpPr>
        <dsp:cNvPr id="0" name=""/>
        <dsp:cNvSpPr/>
      </dsp:nvSpPr>
      <dsp:spPr>
        <a:xfrm>
          <a:off x="5420" y="1330865"/>
          <a:ext cx="2495373" cy="2448971"/>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6838" tIns="165100" rIns="196838" bIns="165100" numCol="1" spcCol="1270" anchor="t" anchorCtr="0">
          <a:noAutofit/>
        </a:bodyPr>
        <a:lstStyle/>
        <a:p>
          <a:pPr marL="0" lvl="0" indent="0" algn="l" defTabSz="488950">
            <a:lnSpc>
              <a:spcPct val="90000"/>
            </a:lnSpc>
            <a:spcBef>
              <a:spcPct val="0"/>
            </a:spcBef>
            <a:spcAft>
              <a:spcPct val="35000"/>
            </a:spcAft>
            <a:buNone/>
          </a:pPr>
          <a:r>
            <a:rPr lang="en-US" sz="1100" kern="1200" dirty="0"/>
            <a:t>Laser Communication Terminals (LCTs) use highly focused </a:t>
          </a:r>
          <a:r>
            <a:rPr lang="en-US" sz="1100" b="1" kern="1200" dirty="0"/>
            <a:t>laser beams (free-space optics)</a:t>
          </a:r>
          <a:r>
            <a:rPr lang="en-US" sz="1100" kern="1200" dirty="0"/>
            <a:t> to transmit data between satellites or between space and ground stations, offering significantly </a:t>
          </a:r>
          <a:r>
            <a:rPr lang="en-US" sz="1100" b="1" kern="1200" dirty="0"/>
            <a:t>higher data rates</a:t>
          </a:r>
          <a:r>
            <a:rPr lang="en-US" sz="1100" kern="1200" dirty="0"/>
            <a:t>, </a:t>
          </a:r>
          <a:r>
            <a:rPr lang="en-US" sz="1100" b="1" kern="1200" dirty="0"/>
            <a:t>enhanced security</a:t>
          </a:r>
          <a:r>
            <a:rPr lang="en-US" sz="1100" kern="1200" dirty="0"/>
            <a:t>, and </a:t>
          </a:r>
          <a:r>
            <a:rPr lang="en-US" sz="1100" b="1" kern="1200" dirty="0"/>
            <a:t>reduced interference</a:t>
          </a:r>
          <a:r>
            <a:rPr lang="en-US" sz="1100" kern="1200" dirty="0"/>
            <a:t> compared to traditional radio frequency (RF) systems. </a:t>
          </a:r>
        </a:p>
      </dsp:txBody>
      <dsp:txXfrm>
        <a:off x="5420" y="1820659"/>
        <a:ext cx="2495373" cy="1959177"/>
      </dsp:txXfrm>
    </dsp:sp>
    <dsp:sp modelId="{4F0166FA-6FA8-4D7B-90D9-2CE4F04B23E4}">
      <dsp:nvSpPr>
        <dsp:cNvPr id="0" name=""/>
        <dsp:cNvSpPr/>
      </dsp:nvSpPr>
      <dsp:spPr>
        <a:xfrm>
          <a:off x="2778057" y="582606"/>
          <a:ext cx="2495373" cy="71"/>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29D104-E02E-420F-BB09-5CA3FB74CCBB}">
      <dsp:nvSpPr>
        <dsp:cNvPr id="0" name=""/>
        <dsp:cNvSpPr/>
      </dsp:nvSpPr>
      <dsp:spPr>
        <a:xfrm>
          <a:off x="5339973" y="489482"/>
          <a:ext cx="127541" cy="239526"/>
        </a:xfrm>
        <a:prstGeom prst="chevron">
          <a:avLst>
            <a:gd name="adj" fmla="val 90000"/>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7A00A6-8B7A-4098-8C9E-B0A40AF8E34E}">
      <dsp:nvSpPr>
        <dsp:cNvPr id="0" name=""/>
        <dsp:cNvSpPr/>
      </dsp:nvSpPr>
      <dsp:spPr>
        <a:xfrm>
          <a:off x="3443110" y="9"/>
          <a:ext cx="1165265" cy="116526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219" tIns="45219" rIns="45219" bIns="45219" numCol="1" spcCol="1270" anchor="ctr" anchorCtr="0">
          <a:noAutofit/>
        </a:bodyPr>
        <a:lstStyle/>
        <a:p>
          <a:pPr marL="0" lvl="0" indent="0" algn="ctr" defTabSz="2266950">
            <a:lnSpc>
              <a:spcPct val="90000"/>
            </a:lnSpc>
            <a:spcBef>
              <a:spcPct val="0"/>
            </a:spcBef>
            <a:spcAft>
              <a:spcPct val="35000"/>
            </a:spcAft>
            <a:buNone/>
          </a:pPr>
          <a:r>
            <a:rPr lang="en-US" sz="5100" kern="1200"/>
            <a:t>2</a:t>
          </a:r>
        </a:p>
      </dsp:txBody>
      <dsp:txXfrm>
        <a:off x="3613759" y="170658"/>
        <a:ext cx="823967" cy="823967"/>
      </dsp:txXfrm>
    </dsp:sp>
    <dsp:sp modelId="{B069C48C-3873-4689-AFBE-66B542C0D25F}">
      <dsp:nvSpPr>
        <dsp:cNvPr id="0" name=""/>
        <dsp:cNvSpPr/>
      </dsp:nvSpPr>
      <dsp:spPr>
        <a:xfrm>
          <a:off x="2778057" y="1330865"/>
          <a:ext cx="2495373" cy="2448971"/>
        </a:xfrm>
        <a:prstGeom prst="upArrowCallout">
          <a:avLst>
            <a:gd name="adj1" fmla="val 50000"/>
            <a:gd name="adj2" fmla="val 20000"/>
            <a:gd name="adj3" fmla="val 20000"/>
            <a:gd name="adj4" fmla="val 10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6838" tIns="165100" rIns="196838" bIns="165100" numCol="1" spcCol="1270" anchor="t" anchorCtr="0">
          <a:noAutofit/>
        </a:bodyPr>
        <a:lstStyle/>
        <a:p>
          <a:pPr marL="0" lvl="0" indent="0" algn="l" defTabSz="488950">
            <a:lnSpc>
              <a:spcPct val="90000"/>
            </a:lnSpc>
            <a:spcBef>
              <a:spcPct val="0"/>
            </a:spcBef>
            <a:spcAft>
              <a:spcPct val="35000"/>
            </a:spcAft>
            <a:buNone/>
          </a:pPr>
          <a:r>
            <a:rPr lang="en-US" sz="1100" b="1" kern="1200" dirty="0"/>
            <a:t>Free-Space Optical (FSO) Technology:</a:t>
          </a:r>
          <a:r>
            <a:rPr lang="en-US" sz="1100" kern="1200" dirty="0"/>
            <a:t> This is the foundational technology for LCTs. It uses light propagating through space (or the atmosphere) as the communication medium, rather than radio waves or fiber optic cables.</a:t>
          </a:r>
        </a:p>
      </dsp:txBody>
      <dsp:txXfrm>
        <a:off x="2778057" y="1820659"/>
        <a:ext cx="2495373" cy="1959177"/>
      </dsp:txXfrm>
    </dsp:sp>
    <dsp:sp modelId="{CFF6184D-FBE8-430F-A7E7-4E47BEACF51F}">
      <dsp:nvSpPr>
        <dsp:cNvPr id="0" name=""/>
        <dsp:cNvSpPr/>
      </dsp:nvSpPr>
      <dsp:spPr>
        <a:xfrm>
          <a:off x="5550693" y="582598"/>
          <a:ext cx="2495373" cy="71"/>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5DA18F-5784-4A43-ACFF-2621753F4ACD}">
      <dsp:nvSpPr>
        <dsp:cNvPr id="0" name=""/>
        <dsp:cNvSpPr/>
      </dsp:nvSpPr>
      <dsp:spPr>
        <a:xfrm>
          <a:off x="8112610" y="489473"/>
          <a:ext cx="127541" cy="239552"/>
        </a:xfrm>
        <a:prstGeom prst="chevron">
          <a:avLst>
            <a:gd name="adj" fmla="val 9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C8F3A9-0ACA-4E67-83DB-970DB8FE57BD}">
      <dsp:nvSpPr>
        <dsp:cNvPr id="0" name=""/>
        <dsp:cNvSpPr/>
      </dsp:nvSpPr>
      <dsp:spPr>
        <a:xfrm>
          <a:off x="6215747" y="1"/>
          <a:ext cx="1165265" cy="1165265"/>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219" tIns="45219" rIns="45219" bIns="45219" numCol="1" spcCol="1270" anchor="ctr" anchorCtr="0">
          <a:noAutofit/>
        </a:bodyPr>
        <a:lstStyle/>
        <a:p>
          <a:pPr marL="0" lvl="0" indent="0" algn="ctr" defTabSz="2266950">
            <a:lnSpc>
              <a:spcPct val="90000"/>
            </a:lnSpc>
            <a:spcBef>
              <a:spcPct val="0"/>
            </a:spcBef>
            <a:spcAft>
              <a:spcPct val="35000"/>
            </a:spcAft>
            <a:buNone/>
          </a:pPr>
          <a:r>
            <a:rPr lang="en-US" sz="5100" kern="1200"/>
            <a:t>3</a:t>
          </a:r>
        </a:p>
      </dsp:txBody>
      <dsp:txXfrm>
        <a:off x="6386396" y="170650"/>
        <a:ext cx="823967" cy="823967"/>
      </dsp:txXfrm>
    </dsp:sp>
    <dsp:sp modelId="{50BF1493-BC9D-4D07-AA1C-4FE33D7DA2A9}">
      <dsp:nvSpPr>
        <dsp:cNvPr id="0" name=""/>
        <dsp:cNvSpPr/>
      </dsp:nvSpPr>
      <dsp:spPr>
        <a:xfrm>
          <a:off x="5550693" y="1330865"/>
          <a:ext cx="2495373" cy="2448971"/>
        </a:xfrm>
        <a:prstGeom prst="upArrowCallout">
          <a:avLst>
            <a:gd name="adj1" fmla="val 50000"/>
            <a:gd name="adj2" fmla="val 20000"/>
            <a:gd name="adj3" fmla="val 20000"/>
            <a:gd name="adj4" fmla="val 10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6838" tIns="165100" rIns="196838" bIns="165100" numCol="1" spcCol="1270" anchor="t" anchorCtr="0">
          <a:noAutofit/>
        </a:bodyPr>
        <a:lstStyle/>
        <a:p>
          <a:pPr marL="0" lvl="0" indent="0" algn="l" defTabSz="488950">
            <a:lnSpc>
              <a:spcPct val="90000"/>
            </a:lnSpc>
            <a:spcBef>
              <a:spcPct val="0"/>
            </a:spcBef>
            <a:spcAft>
              <a:spcPct val="35000"/>
            </a:spcAft>
            <a:buNone/>
          </a:pPr>
          <a:r>
            <a:rPr lang="en-US" sz="1100" b="1" kern="1200" dirty="0"/>
            <a:t>High Data Rates:</a:t>
          </a:r>
          <a:r>
            <a:rPr lang="en-US" sz="1100" kern="1200" dirty="0"/>
            <a:t> A primary advantage of LCTs is their ability to achieve very high data transfer rates, often in the gigabits per second (Gbps) to hundreds of Gbps range. This is crucial for transmitting large amounts of data, such as high-resolution Earth observation imagery.</a:t>
          </a:r>
        </a:p>
      </dsp:txBody>
      <dsp:txXfrm>
        <a:off x="5550693" y="1820659"/>
        <a:ext cx="2495373" cy="1959177"/>
      </dsp:txXfrm>
    </dsp:sp>
    <dsp:sp modelId="{4D669325-5351-4943-BE90-58E70E7A8CC2}">
      <dsp:nvSpPr>
        <dsp:cNvPr id="0" name=""/>
        <dsp:cNvSpPr/>
      </dsp:nvSpPr>
      <dsp:spPr>
        <a:xfrm>
          <a:off x="8323330" y="582596"/>
          <a:ext cx="1247686" cy="71"/>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A3DEB5-4C23-4512-B8BF-AFB4EA9AF713}">
      <dsp:nvSpPr>
        <dsp:cNvPr id="0" name=""/>
        <dsp:cNvSpPr/>
      </dsp:nvSpPr>
      <dsp:spPr>
        <a:xfrm>
          <a:off x="8988384" y="0"/>
          <a:ext cx="1165265" cy="1165265"/>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219" tIns="45219" rIns="45219" bIns="45219" numCol="1" spcCol="1270" anchor="ctr" anchorCtr="0">
          <a:noAutofit/>
        </a:bodyPr>
        <a:lstStyle/>
        <a:p>
          <a:pPr marL="0" lvl="0" indent="0" algn="ctr" defTabSz="2266950">
            <a:lnSpc>
              <a:spcPct val="90000"/>
            </a:lnSpc>
            <a:spcBef>
              <a:spcPct val="0"/>
            </a:spcBef>
            <a:spcAft>
              <a:spcPct val="35000"/>
            </a:spcAft>
            <a:buNone/>
          </a:pPr>
          <a:r>
            <a:rPr lang="en-US" sz="5100" kern="1200"/>
            <a:t>4</a:t>
          </a:r>
        </a:p>
      </dsp:txBody>
      <dsp:txXfrm>
        <a:off x="9159033" y="170649"/>
        <a:ext cx="823967" cy="823967"/>
      </dsp:txXfrm>
    </dsp:sp>
    <dsp:sp modelId="{DF4D0531-FC5E-44FC-A3AE-2F476FB813D9}">
      <dsp:nvSpPr>
        <dsp:cNvPr id="0" name=""/>
        <dsp:cNvSpPr/>
      </dsp:nvSpPr>
      <dsp:spPr>
        <a:xfrm>
          <a:off x="8323330" y="1330865"/>
          <a:ext cx="2495373" cy="2448971"/>
        </a:xfrm>
        <a:prstGeom prst="upArrowCallout">
          <a:avLst>
            <a:gd name="adj1" fmla="val 50000"/>
            <a:gd name="adj2" fmla="val 20000"/>
            <a:gd name="adj3" fmla="val 20000"/>
            <a:gd name="adj4" fmla="val 10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6838" tIns="165100" rIns="196838" bIns="165100" numCol="1" spcCol="1270" anchor="t" anchorCtr="0">
          <a:noAutofit/>
        </a:bodyPr>
        <a:lstStyle/>
        <a:p>
          <a:pPr marL="0" lvl="0" indent="0" algn="l" defTabSz="488950">
            <a:lnSpc>
              <a:spcPct val="90000"/>
            </a:lnSpc>
            <a:spcBef>
              <a:spcPct val="0"/>
            </a:spcBef>
            <a:spcAft>
              <a:spcPct val="35000"/>
            </a:spcAft>
            <a:buNone/>
          </a:pPr>
          <a:r>
            <a:rPr lang="en-US" sz="1100" b="1" kern="1200" dirty="0"/>
            <a:t>Narrow, Directional Beams:</a:t>
          </a:r>
          <a:r>
            <a:rPr lang="en-US" sz="1100" kern="1200" dirty="0"/>
            <a:t> LCTs use highly collimated laser beams, which are much narrower than RF beams. This narrowness provides:</a:t>
          </a:r>
        </a:p>
        <a:p>
          <a:pPr marL="57150" lvl="1" indent="-57150" algn="l" defTabSz="488950">
            <a:lnSpc>
              <a:spcPct val="90000"/>
            </a:lnSpc>
            <a:spcBef>
              <a:spcPct val="0"/>
            </a:spcBef>
            <a:spcAft>
              <a:spcPct val="15000"/>
            </a:spcAft>
            <a:buChar char="•"/>
          </a:pPr>
          <a:r>
            <a:rPr lang="en-US" sz="1100" b="1" kern="1200" dirty="0"/>
            <a:t>Reduced Interference:</a:t>
          </a:r>
          <a:r>
            <a:rPr lang="en-US" sz="1100" kern="1200" dirty="0"/>
            <a:t> Multiple links can exist in close proximity without interfering with each other.</a:t>
          </a:r>
        </a:p>
        <a:p>
          <a:pPr marL="57150" lvl="1" indent="-57150" algn="l" defTabSz="488950">
            <a:lnSpc>
              <a:spcPct val="90000"/>
            </a:lnSpc>
            <a:spcBef>
              <a:spcPct val="0"/>
            </a:spcBef>
            <a:spcAft>
              <a:spcPct val="15000"/>
            </a:spcAft>
            <a:buChar char="•"/>
          </a:pPr>
          <a:r>
            <a:rPr lang="en-US" sz="1100" b="1" kern="1200" dirty="0"/>
            <a:t>Enhanced Security:</a:t>
          </a:r>
          <a:r>
            <a:rPr lang="en-US" sz="1100" kern="1200" dirty="0"/>
            <a:t> The focused beam is difficult for unauthorized parties to intercept, making it ideal for sensitive communications.</a:t>
          </a:r>
        </a:p>
      </dsp:txBody>
      <dsp:txXfrm>
        <a:off x="8323330" y="1820659"/>
        <a:ext cx="2495373" cy="1959177"/>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04032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953682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1/13/2026</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086649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598736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21711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99500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733468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01894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054159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3181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1/13/2026</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425522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24624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194242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77010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3494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99927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80181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74833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47131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79240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839289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75637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43817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1/13/2026</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2852857063"/>
      </p:ext>
    </p:extLst>
  </p:cSld>
  <p:clrMap bg1="dk1" tx1="lt1" bg2="dk2" tx2="lt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86" r:id="rId5"/>
    <p:sldLayoutId id="2147484092" r:id="rId6"/>
    <p:sldLayoutId id="2147484087" r:id="rId7"/>
    <p:sldLayoutId id="2147484088" r:id="rId8"/>
    <p:sldLayoutId id="2147484089" r:id="rId9"/>
    <p:sldLayoutId id="2147484090" r:id="rId10"/>
    <p:sldLayoutId id="2147484091"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1/13/2026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323644530"/>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3996" r:id="rId6"/>
    <p:sldLayoutId id="2147484001" r:id="rId7"/>
    <p:sldLayoutId id="2147483997" r:id="rId8"/>
    <p:sldLayoutId id="2147483998" r:id="rId9"/>
    <p:sldLayoutId id="2147483999" r:id="rId10"/>
    <p:sldLayoutId id="2147484000" r:id="rId11"/>
    <p:sldLayoutId id="2147484002"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9AACA9-BD92-429F-8047-0731DB46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B046D8F9-B18B-42F5-B320-22E156F4C0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9" name="Rectangle 28">
              <a:extLst>
                <a:ext uri="{FF2B5EF4-FFF2-40B4-BE49-F238E27FC236}">
                  <a16:creationId xmlns:a16="http://schemas.microsoft.com/office/drawing/2014/main" id="{3980DF08-8878-4A99-871A-573EBF4F3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1E0FF3E7-007F-48E0-8352-89CE4375BB2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603875" y="0"/>
              <a:ext cx="6521820" cy="3260910"/>
              <a:chOff x="0" y="0"/>
              <a:chExt cx="2880000" cy="1440000"/>
            </a:xfrm>
          </p:grpSpPr>
          <p:sp>
            <p:nvSpPr>
              <p:cNvPr id="33" name="Rectangle 32">
                <a:extLst>
                  <a:ext uri="{FF2B5EF4-FFF2-40B4-BE49-F238E27FC236}">
                    <a16:creationId xmlns:a16="http://schemas.microsoft.com/office/drawing/2014/main" id="{F02DE4FC-8B38-40C7-A2F5-CBD4C6592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C97C509-DDA4-4291-88B3-8E2B14609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96345897-50D9-424E-A94E-18A63AEE85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66E6E08-BABA-49E9-884E-4805849158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p:nvPr>
        </p:nvSpPr>
        <p:spPr>
          <a:xfrm>
            <a:off x="1487487" y="545126"/>
            <a:ext cx="9217026" cy="3783988"/>
          </a:xfrm>
        </p:spPr>
        <p:txBody>
          <a:bodyPr>
            <a:normAutofit/>
          </a:bodyPr>
          <a:lstStyle/>
          <a:p>
            <a:pPr algn="ctr"/>
            <a:r>
              <a:rPr lang="en-US" sz="4800"/>
              <a:t>A SURVEY ON LASER SPACE NETWORK:TERMINALS,LINKS AND ARCHITECTURES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7BA10581-08F2-4D9E-8CB4-07ECFEE95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59E2092A-4250-4BDD-AC6C-CA57E30DD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266875" cy="6858000"/>
            <a:chOff x="0" y="0"/>
            <a:chExt cx="7266875" cy="6858000"/>
          </a:xfrm>
        </p:grpSpPr>
        <p:sp>
          <p:nvSpPr>
            <p:cNvPr id="62" name="Freeform: Shape 61">
              <a:extLst>
                <a:ext uri="{FF2B5EF4-FFF2-40B4-BE49-F238E27FC236}">
                  <a16:creationId xmlns:a16="http://schemas.microsoft.com/office/drawing/2014/main" id="{FA1EE7D2-EB27-4C6C-8E54-CBCDDCA178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3600"/>
              <a:ext cx="7266875" cy="6854400"/>
            </a:xfrm>
            <a:custGeom>
              <a:avLst/>
              <a:gdLst>
                <a:gd name="connsiteX0" fmla="*/ 3839675 w 7266875"/>
                <a:gd name="connsiteY0" fmla="*/ 0 h 6854400"/>
                <a:gd name="connsiteX1" fmla="*/ 7266875 w 7266875"/>
                <a:gd name="connsiteY1" fmla="*/ 3427200 h 6854400"/>
                <a:gd name="connsiteX2" fmla="*/ 3839675 w 7266875"/>
                <a:gd name="connsiteY2" fmla="*/ 6854400 h 6854400"/>
                <a:gd name="connsiteX3" fmla="*/ 3489264 w 7266875"/>
                <a:gd name="connsiteY3" fmla="*/ 6836706 h 6854400"/>
                <a:gd name="connsiteX4" fmla="*/ 3327588 w 7266875"/>
                <a:gd name="connsiteY4" fmla="*/ 6816161 h 6854400"/>
                <a:gd name="connsiteX5" fmla="*/ 3174464 w 7266875"/>
                <a:gd name="connsiteY5" fmla="*/ 6839531 h 6854400"/>
                <a:gd name="connsiteX6" fmla="*/ 2880000 w 7266875"/>
                <a:gd name="connsiteY6" fmla="*/ 6854400 h 6854400"/>
                <a:gd name="connsiteX7" fmla="*/ 0 w 7266875"/>
                <a:gd name="connsiteY7" fmla="*/ 3974400 h 6854400"/>
                <a:gd name="connsiteX8" fmla="*/ 226325 w 7266875"/>
                <a:gd name="connsiteY8" fmla="*/ 2853374 h 6854400"/>
                <a:gd name="connsiteX9" fmla="*/ 258015 w 7266875"/>
                <a:gd name="connsiteY9" fmla="*/ 2787590 h 6854400"/>
                <a:gd name="connsiteX10" fmla="*/ 224445 w 7266875"/>
                <a:gd name="connsiteY10" fmla="*/ 2657030 h 6854400"/>
                <a:gd name="connsiteX11" fmla="*/ 180561 w 7266875"/>
                <a:gd name="connsiteY11" fmla="*/ 2221714 h 6854400"/>
                <a:gd name="connsiteX12" fmla="*/ 2340561 w 7266875"/>
                <a:gd name="connsiteY12" fmla="*/ 61714 h 6854400"/>
                <a:gd name="connsiteX13" fmla="*/ 2828370 w 7266875"/>
                <a:gd name="connsiteY13" fmla="*/ 117025 h 6854400"/>
                <a:gd name="connsiteX14" fmla="*/ 2891183 w 7266875"/>
                <a:gd name="connsiteY14" fmla="*/ 134017 h 6854400"/>
                <a:gd name="connsiteX15" fmla="*/ 2983165 w 7266875"/>
                <a:gd name="connsiteY15" fmla="*/ 107897 h 6854400"/>
                <a:gd name="connsiteX16" fmla="*/ 3839675 w 7266875"/>
                <a:gd name="connsiteY16" fmla="*/ 0 h 68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66875" h="6854400">
                  <a:moveTo>
                    <a:pt x="3839675" y="0"/>
                  </a:moveTo>
                  <a:cubicBezTo>
                    <a:pt x="5732465" y="0"/>
                    <a:pt x="7266875" y="1534410"/>
                    <a:pt x="7266875" y="3427200"/>
                  </a:cubicBezTo>
                  <a:cubicBezTo>
                    <a:pt x="7266875" y="5319990"/>
                    <a:pt x="5732465" y="6854400"/>
                    <a:pt x="3839675" y="6854400"/>
                  </a:cubicBezTo>
                  <a:cubicBezTo>
                    <a:pt x="3721376" y="6854400"/>
                    <a:pt x="3604476" y="6848406"/>
                    <a:pt x="3489264" y="6836706"/>
                  </a:cubicBezTo>
                  <a:lnTo>
                    <a:pt x="3327588" y="6816161"/>
                  </a:lnTo>
                  <a:lnTo>
                    <a:pt x="3174464" y="6839531"/>
                  </a:lnTo>
                  <a:cubicBezTo>
                    <a:pt x="3077646" y="6849363"/>
                    <a:pt x="2979412" y="6854400"/>
                    <a:pt x="2880000" y="6854400"/>
                  </a:cubicBezTo>
                  <a:cubicBezTo>
                    <a:pt x="1289420" y="6854400"/>
                    <a:pt x="0" y="5564980"/>
                    <a:pt x="0" y="3974400"/>
                  </a:cubicBezTo>
                  <a:cubicBezTo>
                    <a:pt x="0" y="3576755"/>
                    <a:pt x="80589" y="3197933"/>
                    <a:pt x="226325" y="2853374"/>
                  </a:cubicBezTo>
                  <a:lnTo>
                    <a:pt x="258015" y="2787590"/>
                  </a:lnTo>
                  <a:lnTo>
                    <a:pt x="224445" y="2657030"/>
                  </a:lnTo>
                  <a:cubicBezTo>
                    <a:pt x="195672" y="2516419"/>
                    <a:pt x="180561" y="2370831"/>
                    <a:pt x="180561" y="2221714"/>
                  </a:cubicBezTo>
                  <a:cubicBezTo>
                    <a:pt x="180561" y="1028779"/>
                    <a:pt x="1147626" y="61714"/>
                    <a:pt x="2340561" y="61714"/>
                  </a:cubicBezTo>
                  <a:cubicBezTo>
                    <a:pt x="2508318" y="61714"/>
                    <a:pt x="2671608" y="80838"/>
                    <a:pt x="2828370" y="117025"/>
                  </a:cubicBezTo>
                  <a:lnTo>
                    <a:pt x="2891183" y="134017"/>
                  </a:lnTo>
                  <a:lnTo>
                    <a:pt x="2983165" y="107897"/>
                  </a:lnTo>
                  <a:cubicBezTo>
                    <a:pt x="3256928" y="37461"/>
                    <a:pt x="3543927" y="0"/>
                    <a:pt x="3839675" y="0"/>
                  </a:cubicBezTo>
                  <a:close/>
                </a:path>
              </a:pathLst>
            </a:custGeom>
            <a:solidFill>
              <a:schemeClr val="bg2">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Oval 62">
              <a:extLst>
                <a:ext uri="{FF2B5EF4-FFF2-40B4-BE49-F238E27FC236}">
                  <a16:creationId xmlns:a16="http://schemas.microsoft.com/office/drawing/2014/main" id="{A73CF8FD-0917-4279-B6E7-120EE392F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1094400"/>
              <a:ext cx="5760000" cy="5760000"/>
            </a:xfrm>
            <a:prstGeom prst="ellipse">
              <a:avLst/>
            </a:prstGeom>
            <a:solidFill>
              <a:schemeClr val="accent1">
                <a:alpha val="4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3A3FA15-CF3D-4F2B-BB5C-18E5DB3057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180561" y="61714"/>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F776AED5-83E6-4A3D-B609-7CCABAD440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12475" y="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le 3">
            <a:extLst>
              <a:ext uri="{FF2B5EF4-FFF2-40B4-BE49-F238E27FC236}">
                <a16:creationId xmlns:a16="http://schemas.microsoft.com/office/drawing/2014/main" id="{E02CA9C9-1533-3453-60B1-BA1D47CFAFAE}"/>
              </a:ext>
            </a:extLst>
          </p:cNvPr>
          <p:cNvSpPr>
            <a:spLocks noGrp="1"/>
          </p:cNvSpPr>
          <p:nvPr>
            <p:ph type="title"/>
          </p:nvPr>
        </p:nvSpPr>
        <p:spPr>
          <a:xfrm>
            <a:off x="922020" y="833015"/>
            <a:ext cx="5193960" cy="5202026"/>
          </a:xfrm>
        </p:spPr>
        <p:txBody>
          <a:bodyPr anchor="ctr">
            <a:normAutofit/>
          </a:bodyPr>
          <a:lstStyle/>
          <a:p>
            <a:pPr algn="ctr"/>
            <a:r>
              <a:rPr lang="en-US"/>
              <a:t>ABSTRACT:</a:t>
            </a:r>
          </a:p>
        </p:txBody>
      </p:sp>
      <p:sp>
        <p:nvSpPr>
          <p:cNvPr id="5" name="Content Placeholder 4">
            <a:extLst>
              <a:ext uri="{FF2B5EF4-FFF2-40B4-BE49-F238E27FC236}">
                <a16:creationId xmlns:a16="http://schemas.microsoft.com/office/drawing/2014/main" id="{1EF9DA7D-3BDA-FE8F-BA38-D4A0FA53382E}"/>
              </a:ext>
            </a:extLst>
          </p:cNvPr>
          <p:cNvSpPr>
            <a:spLocks noGrp="1"/>
          </p:cNvSpPr>
          <p:nvPr>
            <p:ph idx="1"/>
          </p:nvPr>
        </p:nvSpPr>
        <p:spPr>
          <a:xfrm>
            <a:off x="7104062" y="540347"/>
            <a:ext cx="4537075" cy="5760000"/>
          </a:xfrm>
        </p:spPr>
        <p:txBody>
          <a:bodyPr vert="horz" lIns="91440" tIns="45720" rIns="91440" bIns="45720" rtlCol="0" anchor="ctr">
            <a:normAutofit/>
          </a:bodyPr>
          <a:lstStyle/>
          <a:p>
            <a:pPr marL="269875" indent="-269875">
              <a:lnSpc>
                <a:spcPct val="115000"/>
              </a:lnSpc>
            </a:pPr>
            <a:r>
              <a:rPr lang="en-US" sz="1300"/>
              <a:t>Laser space network (LSNs) are an emerging communication technology that uses optical(laser-based) links to enable high - speed data transmission between  satellites, space platforms, and ground stations .compared to traditional radio frequency systems, laser communication offers advantages such as higher data rates, lower latency, reduced interference, and enhanced security this survey presents an over view of key components of laser space networks, focusing on laser communication terminals ,optical inter-satellites and space-to-ground links, and various network architectures. It discusses terminal design aspects including  ,pointing, acquition,and tracking(PAT),link characteristics such as atmospheric effects and alignment challenges, and architectures like satellite constellations and hybrid RF-optical networks. The survey highlights recent advancements,challenges, and future research  directions, emphasizing the role of laser space networks in  next-generation satellite communications and deep-space missions.</a:t>
            </a:r>
          </a:p>
        </p:txBody>
      </p:sp>
    </p:spTree>
    <p:extLst>
      <p:ext uri="{BB962C8B-B14F-4D97-AF65-F5344CB8AC3E}">
        <p14:creationId xmlns:p14="http://schemas.microsoft.com/office/powerpoint/2010/main" val="1172565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577E4-63D8-A07A-5B3F-9C70957CF467}"/>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78198F1C-B21B-7093-5777-574436B04A63}"/>
              </a:ext>
            </a:extLst>
          </p:cNvPr>
          <p:cNvSpPr>
            <a:spLocks noGrp="1"/>
          </p:cNvSpPr>
          <p:nvPr>
            <p:ph idx="1"/>
          </p:nvPr>
        </p:nvSpPr>
        <p:spPr>
          <a:xfrm>
            <a:off x="540000" y="2428245"/>
            <a:ext cx="11101136" cy="3880479"/>
          </a:xfrm>
        </p:spPr>
        <p:txBody>
          <a:bodyPr vert="horz" lIns="91440" tIns="45720" rIns="91440" bIns="45720" rtlCol="0" anchor="t">
            <a:normAutofit/>
          </a:bodyPr>
          <a:lstStyle/>
          <a:p>
            <a:pPr marL="269875" indent="-269875"/>
            <a:r>
              <a:rPr lang="en-US" dirty="0"/>
              <a:t>Laser space networks use laser-based optical communication to transfer data between satellites and ground stations at very high speeds.compared to radio-frequency cpmmunocation,laser links provide hiher bandwidth,better security,and lower interference.</a:t>
            </a:r>
          </a:p>
          <a:p>
            <a:pPr marL="269875" indent="-269875"/>
            <a:r>
              <a:rPr lang="en-US" dirty="0"/>
              <a:t>This survey introduces tha main aspects of laser space  networks, including laser communication terminals, optical links,and different network architectures,highlighting their importance in modern and future face communication </a:t>
            </a:r>
            <a:r>
              <a:rPr lang="en-US"/>
              <a:t>systems.</a:t>
            </a:r>
            <a:endParaRPr lang="en-US" dirty="0"/>
          </a:p>
        </p:txBody>
      </p:sp>
    </p:spTree>
    <p:extLst>
      <p:ext uri="{BB962C8B-B14F-4D97-AF65-F5344CB8AC3E}">
        <p14:creationId xmlns:p14="http://schemas.microsoft.com/office/powerpoint/2010/main" val="62499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2787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000C-E214-8D2E-0709-E59CEBC9CA09}"/>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0FD1700B-960B-40F0-FE02-A7A47BDB4D2B}"/>
              </a:ext>
            </a:extLst>
          </p:cNvPr>
          <p:cNvSpPr>
            <a:spLocks noGrp="1"/>
          </p:cNvSpPr>
          <p:nvPr>
            <p:ph idx="1"/>
          </p:nvPr>
        </p:nvSpPr>
        <p:spPr/>
        <p:txBody>
          <a:bodyPr vert="horz" lIns="91440" tIns="45720" rIns="91440" bIns="45720" rtlCol="0" anchor="t">
            <a:normAutofit/>
          </a:bodyPr>
          <a:lstStyle/>
          <a:p>
            <a:pPr marL="269875" indent="-269875"/>
            <a:r>
              <a:rPr lang="en-US" dirty="0">
                <a:ea typeface="+mn-lt"/>
                <a:cs typeface="+mn-lt"/>
              </a:rPr>
              <a:t>The objective of this survey is to provide a comprehensive overview of laser-based space communication networks by examining the key components of laser terminals, inter-satellite and space-to-ground links, and network architectures. </a:t>
            </a:r>
          </a:p>
          <a:p>
            <a:pPr marL="269875" indent="-269875"/>
            <a:r>
              <a:rPr lang="en-US" dirty="0">
                <a:ea typeface="+mn-lt"/>
                <a:cs typeface="+mn-lt"/>
              </a:rPr>
              <a:t>It aims to analyze current technologies, performance characteristics, challenges, and recent advancements to highlight their role in enabling high-data-rate, secure, and efficient space communications.</a:t>
            </a:r>
            <a:endParaRPr lang="en-US" dirty="0"/>
          </a:p>
        </p:txBody>
      </p:sp>
    </p:spTree>
    <p:extLst>
      <p:ext uri="{BB962C8B-B14F-4D97-AF65-F5344CB8AC3E}">
        <p14:creationId xmlns:p14="http://schemas.microsoft.com/office/powerpoint/2010/main" val="172354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C3AD-0748-CDEA-B946-1AF7D32A711D}"/>
              </a:ext>
            </a:extLst>
          </p:cNvPr>
          <p:cNvSpPr>
            <a:spLocks noGrp="1"/>
          </p:cNvSpPr>
          <p:nvPr>
            <p:ph type="title"/>
          </p:nvPr>
        </p:nvSpPr>
        <p:spPr/>
        <p:txBody>
          <a:bodyPr/>
          <a:lstStyle/>
          <a:p>
            <a:r>
              <a:rPr lang="en-US" dirty="0"/>
              <a:t>Laser communication terminals:</a:t>
            </a:r>
          </a:p>
        </p:txBody>
      </p:sp>
      <p:sp>
        <p:nvSpPr>
          <p:cNvPr id="3" name="Content Placeholder 2">
            <a:extLst>
              <a:ext uri="{FF2B5EF4-FFF2-40B4-BE49-F238E27FC236}">
                <a16:creationId xmlns:a16="http://schemas.microsoft.com/office/drawing/2014/main" id="{78968C5A-CAF7-C1C6-E8D5-12C85492A23B}"/>
              </a:ext>
            </a:extLst>
          </p:cNvPr>
          <p:cNvSpPr>
            <a:spLocks noGrp="1"/>
          </p:cNvSpPr>
          <p:nvPr>
            <p:ph idx="1"/>
          </p:nvPr>
        </p:nvSpPr>
        <p:spPr/>
        <p:txBody>
          <a:bodyPr vert="horz" lIns="91440" tIns="45720" rIns="91440" bIns="45720" rtlCol="0" anchor="t">
            <a:normAutofit/>
          </a:bodyPr>
          <a:lstStyle/>
          <a:p>
            <a:pPr marL="269875" indent="-269875"/>
            <a:r>
              <a:rPr lang="en-US" dirty="0">
                <a:ea typeface="+mn-lt"/>
                <a:cs typeface="+mn-lt"/>
              </a:rPr>
              <a:t>In the graphs of LSNs, LCTs are considered essentially as nodes that carry out laser intersatellite communications. This section first introduces some preliminary knowledge about LCTs, including their constructions and workflows. Then it surveys on some typical LCT products. The development trends of LCTs are analyzed next according to the survey of these terminals. A. THE PRELIMINARY KNOWLEDGE OF LCTS One satellite can deploy multiple LCTs. In general, f</a:t>
            </a:r>
            <a:endParaRPr lang="en-US" dirty="0"/>
          </a:p>
        </p:txBody>
      </p:sp>
    </p:spTree>
    <p:extLst>
      <p:ext uri="{BB962C8B-B14F-4D97-AF65-F5344CB8AC3E}">
        <p14:creationId xmlns:p14="http://schemas.microsoft.com/office/powerpoint/2010/main" val="329410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782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7F832D9-9E09-40D4-AD67-47851A25D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D367F6-2262-4154-618C-E63EE3B5CACB}"/>
              </a:ext>
            </a:extLst>
          </p:cNvPr>
          <p:cNvSpPr>
            <a:spLocks noGrp="1"/>
          </p:cNvSpPr>
          <p:nvPr>
            <p:ph type="title"/>
          </p:nvPr>
        </p:nvSpPr>
        <p:spPr>
          <a:xfrm>
            <a:off x="540000" y="540000"/>
            <a:ext cx="11101135" cy="1809500"/>
          </a:xfrm>
        </p:spPr>
        <p:txBody>
          <a:bodyPr anchor="t">
            <a:normAutofit/>
          </a:bodyPr>
          <a:lstStyle/>
          <a:p>
            <a:r>
              <a:rPr lang="en-US" dirty="0"/>
              <a:t>Preliminary  knowledge of LCT'S:</a:t>
            </a:r>
          </a:p>
        </p:txBody>
      </p:sp>
      <p:graphicFrame>
        <p:nvGraphicFramePr>
          <p:cNvPr id="28" name="Content Placeholder 2">
            <a:extLst>
              <a:ext uri="{FF2B5EF4-FFF2-40B4-BE49-F238E27FC236}">
                <a16:creationId xmlns:a16="http://schemas.microsoft.com/office/drawing/2014/main" id="{0E4814AC-EA5F-BCEC-2ADD-B2FEFC5309DE}"/>
              </a:ext>
            </a:extLst>
          </p:cNvPr>
          <p:cNvGraphicFramePr>
            <a:graphicFrameLocks noGrp="1"/>
          </p:cNvGraphicFramePr>
          <p:nvPr>
            <p:ph idx="1"/>
            <p:extLst>
              <p:ext uri="{D42A27DB-BD31-4B8C-83A1-F6EECF244321}">
                <p14:modId xmlns:p14="http://schemas.microsoft.com/office/powerpoint/2010/main" val="3319263445"/>
              </p:ext>
            </p:extLst>
          </p:nvPr>
        </p:nvGraphicFramePr>
        <p:xfrm>
          <a:off x="539750" y="2528888"/>
          <a:ext cx="11101388" cy="3779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2129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01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37F6730-8F76-4239-8CBA-B914B02A7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8A7BB0-7C95-369E-75BD-07E8E07DA5C2}"/>
              </a:ext>
            </a:extLst>
          </p:cNvPr>
          <p:cNvSpPr>
            <a:spLocks noGrp="1"/>
          </p:cNvSpPr>
          <p:nvPr>
            <p:ph type="title"/>
          </p:nvPr>
        </p:nvSpPr>
        <p:spPr>
          <a:xfrm>
            <a:off x="540000" y="540000"/>
            <a:ext cx="4500561" cy="2181946"/>
          </a:xfrm>
        </p:spPr>
        <p:txBody>
          <a:bodyPr anchor="t">
            <a:normAutofit/>
          </a:bodyPr>
          <a:lstStyle/>
          <a:p>
            <a:r>
              <a:rPr lang="en-US" sz="1500"/>
              <a:t>LCT'S PRODUCTS:</a:t>
            </a:r>
            <a:br>
              <a:rPr lang="en-US" sz="1500"/>
            </a:br>
            <a:br>
              <a:rPr lang="en-US" sz="1500"/>
            </a:br>
            <a:br>
              <a:rPr lang="en-US" sz="1500"/>
            </a:br>
            <a:br>
              <a:rPr lang="en-US" sz="1500"/>
            </a:br>
            <a:br>
              <a:rPr lang="en-US" sz="1500"/>
            </a:br>
            <a:br>
              <a:rPr lang="en-US" sz="1500"/>
            </a:br>
            <a:br>
              <a:rPr lang="en-US" sz="1500"/>
            </a:br>
            <a:br>
              <a:rPr lang="en-US" sz="1500"/>
            </a:br>
            <a:endParaRPr lang="en-US" sz="1500"/>
          </a:p>
        </p:txBody>
      </p:sp>
      <p:sp>
        <p:nvSpPr>
          <p:cNvPr id="3" name="Content Placeholder 2">
            <a:extLst>
              <a:ext uri="{FF2B5EF4-FFF2-40B4-BE49-F238E27FC236}">
                <a16:creationId xmlns:a16="http://schemas.microsoft.com/office/drawing/2014/main" id="{44828042-BD0B-6BA0-5FDC-0ECC08B82F46}"/>
              </a:ext>
            </a:extLst>
          </p:cNvPr>
          <p:cNvSpPr>
            <a:spLocks noGrp="1"/>
          </p:cNvSpPr>
          <p:nvPr>
            <p:ph idx="1"/>
          </p:nvPr>
        </p:nvSpPr>
        <p:spPr>
          <a:xfrm>
            <a:off x="550863" y="2947121"/>
            <a:ext cx="4500562" cy="3361604"/>
          </a:xfrm>
        </p:spPr>
        <p:txBody>
          <a:bodyPr vert="horz" lIns="91440" tIns="45720" rIns="91440" bIns="45720" rtlCol="0" anchor="t">
            <a:normAutofit/>
          </a:bodyPr>
          <a:lstStyle/>
          <a:p>
            <a:pPr marL="269875" indent="-269875">
              <a:lnSpc>
                <a:spcPct val="115000"/>
              </a:lnSpc>
            </a:pPr>
            <a:r>
              <a:rPr lang="en-US" sz="900">
                <a:ea typeface="+mn-lt"/>
                <a:cs typeface="+mn-lt"/>
              </a:rPr>
              <a:t>Nowadays, LCTs can be categorized into customized and commercial types. The customized terminals are mainly adopted in present on-orbit technology verification projects, which are designed for particular communication require </a:t>
            </a:r>
            <a:r>
              <a:rPr lang="en-US" sz="900" err="1">
                <a:ea typeface="+mn-lt"/>
                <a:cs typeface="+mn-lt"/>
              </a:rPr>
              <a:t>ments</a:t>
            </a:r>
            <a:r>
              <a:rPr lang="en-US" sz="900">
                <a:ea typeface="+mn-lt"/>
                <a:cs typeface="+mn-lt"/>
              </a:rPr>
              <a:t> in these projects.</a:t>
            </a:r>
          </a:p>
          <a:p>
            <a:pPr marL="269875" indent="-269875">
              <a:lnSpc>
                <a:spcPct val="115000"/>
              </a:lnSpc>
            </a:pPr>
            <a:r>
              <a:rPr lang="en-US" sz="900">
                <a:ea typeface="+mn-lt"/>
                <a:cs typeface="+mn-lt"/>
              </a:rPr>
              <a:t> While in order to support the deployment of large-scale constellations in the next </a:t>
            </a:r>
            <a:r>
              <a:rPr lang="en-US" sz="900" err="1">
                <a:ea typeface="+mn-lt"/>
                <a:cs typeface="+mn-lt"/>
              </a:rPr>
              <a:t>gener</a:t>
            </a:r>
            <a:r>
              <a:rPr lang="en-US" sz="900">
                <a:ea typeface="+mn-lt"/>
                <a:cs typeface="+mn-lt"/>
              </a:rPr>
              <a:t> </a:t>
            </a:r>
            <a:r>
              <a:rPr lang="en-US" sz="900" err="1">
                <a:ea typeface="+mn-lt"/>
                <a:cs typeface="+mn-lt"/>
              </a:rPr>
              <a:t>ation</a:t>
            </a:r>
            <a:r>
              <a:rPr lang="en-US" sz="900">
                <a:ea typeface="+mn-lt"/>
                <a:cs typeface="+mn-lt"/>
              </a:rPr>
              <a:t> of space networks, commercial aerospace technology companies in various countries, such as TESAT, </a:t>
            </a:r>
            <a:r>
              <a:rPr lang="en-US" sz="900" err="1">
                <a:ea typeface="+mn-lt"/>
                <a:cs typeface="+mn-lt"/>
              </a:rPr>
              <a:t>Mynaric</a:t>
            </a:r>
            <a:r>
              <a:rPr lang="en-US" sz="900">
                <a:ea typeface="+mn-lt"/>
                <a:cs typeface="+mn-lt"/>
              </a:rPr>
              <a:t>, Hyperion Technology, Thales Alenia Space, MOSTCOM, and NICT, began to launch laser terminal products with higher transmission rate, smaller mass volume, and lower power consumption.</a:t>
            </a:r>
          </a:p>
          <a:p>
            <a:pPr marL="269875" indent="-269875">
              <a:lnSpc>
                <a:spcPct val="115000"/>
              </a:lnSpc>
            </a:pPr>
            <a:r>
              <a:rPr lang="en-US" sz="900">
                <a:ea typeface="+mn-lt"/>
                <a:cs typeface="+mn-lt"/>
              </a:rPr>
              <a:t> These terminal products can meet the generalized needs of satellite communication tasks, which greatly reduce the communication cost of the terminal deployment. In this section, we will investigate the models and parameters of some typical LCT products, which are summarized in Tab. 2. Note that transmission distances in Tab. 2 are partially</a:t>
            </a:r>
            <a:endParaRPr lang="en-US" sz="900"/>
          </a:p>
        </p:txBody>
      </p:sp>
      <p:grpSp>
        <p:nvGrpSpPr>
          <p:cNvPr id="23" name="Group 22">
            <a:extLst>
              <a:ext uri="{FF2B5EF4-FFF2-40B4-BE49-F238E27FC236}">
                <a16:creationId xmlns:a16="http://schemas.microsoft.com/office/drawing/2014/main" id="{000A5F84-BD20-4A3E-81BA-9F4444101C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1" name="Oval 10">
              <a:extLst>
                <a:ext uri="{FF2B5EF4-FFF2-40B4-BE49-F238E27FC236}">
                  <a16:creationId xmlns:a16="http://schemas.microsoft.com/office/drawing/2014/main" id="{FF62F19C-23B5-44FC-88CF-01A4308726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82D9667-DCFB-45CA-8EDC-7E5E0EE42A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8752FF-502D-43D5-9828-8C42166483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66560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77C8-4679-5720-0BAF-AE6176AC26B3}"/>
              </a:ext>
            </a:extLst>
          </p:cNvPr>
          <p:cNvSpPr>
            <a:spLocks noGrp="1"/>
          </p:cNvSpPr>
          <p:nvPr>
            <p:ph type="title"/>
          </p:nvPr>
        </p:nvSpPr>
        <p:spPr/>
        <p:txBody>
          <a:bodyPr/>
          <a:lstStyle/>
          <a:p>
            <a:r>
              <a:rPr lang="en-US" dirty="0"/>
              <a:t>LASER SPACE LINKS:</a:t>
            </a:r>
          </a:p>
        </p:txBody>
      </p:sp>
      <p:sp>
        <p:nvSpPr>
          <p:cNvPr id="3" name="Content Placeholder 2">
            <a:extLst>
              <a:ext uri="{FF2B5EF4-FFF2-40B4-BE49-F238E27FC236}">
                <a16:creationId xmlns:a16="http://schemas.microsoft.com/office/drawing/2014/main" id="{C24357DB-81C8-30F0-A74D-EE63E7C6C1E6}"/>
              </a:ext>
            </a:extLst>
          </p:cNvPr>
          <p:cNvSpPr>
            <a:spLocks noGrp="1"/>
          </p:cNvSpPr>
          <p:nvPr>
            <p:ph idx="1"/>
          </p:nvPr>
        </p:nvSpPr>
        <p:spPr/>
        <p:txBody>
          <a:bodyPr vert="horz" lIns="91440" tIns="45720" rIns="91440" bIns="45720" rtlCol="0" anchor="t">
            <a:normAutofit/>
          </a:bodyPr>
          <a:lstStyle/>
          <a:p>
            <a:pPr marL="269875" indent="-269875"/>
            <a:r>
              <a:rPr lang="en-US" dirty="0">
                <a:ea typeface="+mn-lt"/>
                <a:cs typeface="+mn-lt"/>
              </a:rPr>
              <a:t>Laser space links—also called </a:t>
            </a:r>
            <a:r>
              <a:rPr lang="en-US" b="1" dirty="0">
                <a:ea typeface="+mn-lt"/>
                <a:cs typeface="+mn-lt"/>
              </a:rPr>
              <a:t>optical inter-satellite links (OISL)</a:t>
            </a:r>
            <a:r>
              <a:rPr lang="en-US" dirty="0">
                <a:ea typeface="+mn-lt"/>
                <a:cs typeface="+mn-lt"/>
              </a:rPr>
              <a:t>—use </a:t>
            </a:r>
            <a:r>
              <a:rPr lang="en-US" b="1" dirty="0">
                <a:ea typeface="+mn-lt"/>
                <a:cs typeface="+mn-lt"/>
              </a:rPr>
              <a:t>laser beams instead of radio waves</a:t>
            </a:r>
            <a:r>
              <a:rPr lang="en-US" dirty="0">
                <a:ea typeface="+mn-lt"/>
                <a:cs typeface="+mn-lt"/>
              </a:rPr>
              <a:t> to transmit data between satellites or between satellites and ground stations.</a:t>
            </a:r>
            <a:endParaRPr lang="en-US" dirty="0"/>
          </a:p>
          <a:p>
            <a:pPr marL="269875" indent="-269875"/>
            <a:r>
              <a:rPr lang="en-US" dirty="0">
                <a:ea typeface="+mn-lt"/>
                <a:cs typeface="+mn-lt"/>
              </a:rPr>
              <a:t>🔦 </a:t>
            </a:r>
            <a:r>
              <a:rPr lang="en-US" b="1" dirty="0">
                <a:ea typeface="+mn-lt"/>
                <a:cs typeface="+mn-lt"/>
              </a:rPr>
              <a:t>Very high data rates</a:t>
            </a:r>
            <a:r>
              <a:rPr lang="en-US" dirty="0">
                <a:ea typeface="+mn-lt"/>
                <a:cs typeface="+mn-lt"/>
              </a:rPr>
              <a:t> (Gbps and beyond)</a:t>
            </a:r>
            <a:endParaRPr lang="en-US" dirty="0"/>
          </a:p>
          <a:p>
            <a:pPr marL="269875" indent="-269875"/>
            <a:r>
              <a:rPr lang="en-US" dirty="0">
                <a:ea typeface="+mn-lt"/>
                <a:cs typeface="+mn-lt"/>
              </a:rPr>
              <a:t>📡 </a:t>
            </a:r>
            <a:r>
              <a:rPr lang="en-US" b="1" dirty="0">
                <a:ea typeface="+mn-lt"/>
                <a:cs typeface="+mn-lt"/>
              </a:rPr>
              <a:t>Narrow beams</a:t>
            </a:r>
            <a:r>
              <a:rPr lang="en-US" dirty="0">
                <a:ea typeface="+mn-lt"/>
                <a:cs typeface="+mn-lt"/>
              </a:rPr>
              <a:t> → low interference and better security</a:t>
            </a:r>
            <a:endParaRPr lang="en-US" dirty="0"/>
          </a:p>
          <a:p>
            <a:pPr marL="269875" indent="-269875"/>
            <a:r>
              <a:rPr lang="en-US" dirty="0">
                <a:ea typeface="+mn-lt"/>
                <a:cs typeface="+mn-lt"/>
              </a:rPr>
              <a:t>⚡ </a:t>
            </a:r>
            <a:r>
              <a:rPr lang="en-US" b="1" dirty="0">
                <a:ea typeface="+mn-lt"/>
                <a:cs typeface="+mn-lt"/>
              </a:rPr>
              <a:t>Lower power consumption</a:t>
            </a:r>
            <a:r>
              <a:rPr lang="en-US" dirty="0">
                <a:ea typeface="+mn-lt"/>
                <a:cs typeface="+mn-lt"/>
              </a:rPr>
              <a:t> compared to RF systems</a:t>
            </a:r>
            <a:endParaRPr lang="en-US" dirty="0"/>
          </a:p>
          <a:p>
            <a:pPr marL="269875" indent="-269875"/>
            <a:r>
              <a:rPr lang="en-US" dirty="0">
                <a:ea typeface="+mn-lt"/>
                <a:cs typeface="+mn-lt"/>
              </a:rPr>
              <a:t>🌌 Used in </a:t>
            </a:r>
            <a:r>
              <a:rPr lang="en-US" b="1" dirty="0">
                <a:ea typeface="+mn-lt"/>
                <a:cs typeface="+mn-lt"/>
              </a:rPr>
              <a:t>satellite constellations</a:t>
            </a:r>
            <a:r>
              <a:rPr lang="en-US" dirty="0">
                <a:ea typeface="+mn-lt"/>
                <a:cs typeface="+mn-lt"/>
              </a:rPr>
              <a:t> (e.g., Starlink), </a:t>
            </a:r>
            <a:r>
              <a:rPr lang="en-US" b="1" dirty="0">
                <a:ea typeface="+mn-lt"/>
                <a:cs typeface="+mn-lt"/>
              </a:rPr>
              <a:t>deep-space missions</a:t>
            </a:r>
            <a:r>
              <a:rPr lang="en-US" dirty="0">
                <a:ea typeface="+mn-lt"/>
                <a:cs typeface="+mn-lt"/>
              </a:rPr>
              <a:t>, and </a:t>
            </a:r>
            <a:r>
              <a:rPr lang="en-US" b="1" dirty="0">
                <a:ea typeface="+mn-lt"/>
                <a:cs typeface="+mn-lt"/>
              </a:rPr>
              <a:t>Earth observation</a:t>
            </a:r>
            <a:endParaRPr lang="en-US" dirty="0"/>
          </a:p>
          <a:p>
            <a:pPr marL="269875" indent="-269875"/>
            <a:r>
              <a:rPr lang="en-US" dirty="0">
                <a:ea typeface="+mn-lt"/>
                <a:cs typeface="+mn-lt"/>
              </a:rPr>
              <a:t>⚠️ Challenges: precise pointing, atmospheric effects (for ground links)</a:t>
            </a:r>
            <a:endParaRPr lang="en-US" dirty="0"/>
          </a:p>
          <a:p>
            <a:pPr marL="269875" indent="-269875"/>
            <a:endParaRPr lang="en-US" dirty="0"/>
          </a:p>
        </p:txBody>
      </p:sp>
    </p:spTree>
    <p:extLst>
      <p:ext uri="{BB962C8B-B14F-4D97-AF65-F5344CB8AC3E}">
        <p14:creationId xmlns:p14="http://schemas.microsoft.com/office/powerpoint/2010/main" val="2415022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060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A10581-08F2-4D9E-8CB4-07ECFEE95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9E2092A-4250-4BDD-AC6C-CA57E30DD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266875" cy="6858000"/>
            <a:chOff x="0" y="0"/>
            <a:chExt cx="7266875" cy="6858000"/>
          </a:xfrm>
        </p:grpSpPr>
        <p:sp>
          <p:nvSpPr>
            <p:cNvPr id="11" name="Freeform: Shape 10">
              <a:extLst>
                <a:ext uri="{FF2B5EF4-FFF2-40B4-BE49-F238E27FC236}">
                  <a16:creationId xmlns:a16="http://schemas.microsoft.com/office/drawing/2014/main" id="{FA1EE7D2-EB27-4C6C-8E54-CBCDDCA178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3600"/>
              <a:ext cx="7266875" cy="6854400"/>
            </a:xfrm>
            <a:custGeom>
              <a:avLst/>
              <a:gdLst>
                <a:gd name="connsiteX0" fmla="*/ 3839675 w 7266875"/>
                <a:gd name="connsiteY0" fmla="*/ 0 h 6854400"/>
                <a:gd name="connsiteX1" fmla="*/ 7266875 w 7266875"/>
                <a:gd name="connsiteY1" fmla="*/ 3427200 h 6854400"/>
                <a:gd name="connsiteX2" fmla="*/ 3839675 w 7266875"/>
                <a:gd name="connsiteY2" fmla="*/ 6854400 h 6854400"/>
                <a:gd name="connsiteX3" fmla="*/ 3489264 w 7266875"/>
                <a:gd name="connsiteY3" fmla="*/ 6836706 h 6854400"/>
                <a:gd name="connsiteX4" fmla="*/ 3327588 w 7266875"/>
                <a:gd name="connsiteY4" fmla="*/ 6816161 h 6854400"/>
                <a:gd name="connsiteX5" fmla="*/ 3174464 w 7266875"/>
                <a:gd name="connsiteY5" fmla="*/ 6839531 h 6854400"/>
                <a:gd name="connsiteX6" fmla="*/ 2880000 w 7266875"/>
                <a:gd name="connsiteY6" fmla="*/ 6854400 h 6854400"/>
                <a:gd name="connsiteX7" fmla="*/ 0 w 7266875"/>
                <a:gd name="connsiteY7" fmla="*/ 3974400 h 6854400"/>
                <a:gd name="connsiteX8" fmla="*/ 226325 w 7266875"/>
                <a:gd name="connsiteY8" fmla="*/ 2853374 h 6854400"/>
                <a:gd name="connsiteX9" fmla="*/ 258015 w 7266875"/>
                <a:gd name="connsiteY9" fmla="*/ 2787590 h 6854400"/>
                <a:gd name="connsiteX10" fmla="*/ 224445 w 7266875"/>
                <a:gd name="connsiteY10" fmla="*/ 2657030 h 6854400"/>
                <a:gd name="connsiteX11" fmla="*/ 180561 w 7266875"/>
                <a:gd name="connsiteY11" fmla="*/ 2221714 h 6854400"/>
                <a:gd name="connsiteX12" fmla="*/ 2340561 w 7266875"/>
                <a:gd name="connsiteY12" fmla="*/ 61714 h 6854400"/>
                <a:gd name="connsiteX13" fmla="*/ 2828370 w 7266875"/>
                <a:gd name="connsiteY13" fmla="*/ 117025 h 6854400"/>
                <a:gd name="connsiteX14" fmla="*/ 2891183 w 7266875"/>
                <a:gd name="connsiteY14" fmla="*/ 134017 h 6854400"/>
                <a:gd name="connsiteX15" fmla="*/ 2983165 w 7266875"/>
                <a:gd name="connsiteY15" fmla="*/ 107897 h 6854400"/>
                <a:gd name="connsiteX16" fmla="*/ 3839675 w 7266875"/>
                <a:gd name="connsiteY16" fmla="*/ 0 h 68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66875" h="6854400">
                  <a:moveTo>
                    <a:pt x="3839675" y="0"/>
                  </a:moveTo>
                  <a:cubicBezTo>
                    <a:pt x="5732465" y="0"/>
                    <a:pt x="7266875" y="1534410"/>
                    <a:pt x="7266875" y="3427200"/>
                  </a:cubicBezTo>
                  <a:cubicBezTo>
                    <a:pt x="7266875" y="5319990"/>
                    <a:pt x="5732465" y="6854400"/>
                    <a:pt x="3839675" y="6854400"/>
                  </a:cubicBezTo>
                  <a:cubicBezTo>
                    <a:pt x="3721376" y="6854400"/>
                    <a:pt x="3604476" y="6848406"/>
                    <a:pt x="3489264" y="6836706"/>
                  </a:cubicBezTo>
                  <a:lnTo>
                    <a:pt x="3327588" y="6816161"/>
                  </a:lnTo>
                  <a:lnTo>
                    <a:pt x="3174464" y="6839531"/>
                  </a:lnTo>
                  <a:cubicBezTo>
                    <a:pt x="3077646" y="6849363"/>
                    <a:pt x="2979412" y="6854400"/>
                    <a:pt x="2880000" y="6854400"/>
                  </a:cubicBezTo>
                  <a:cubicBezTo>
                    <a:pt x="1289420" y="6854400"/>
                    <a:pt x="0" y="5564980"/>
                    <a:pt x="0" y="3974400"/>
                  </a:cubicBezTo>
                  <a:cubicBezTo>
                    <a:pt x="0" y="3576755"/>
                    <a:pt x="80589" y="3197933"/>
                    <a:pt x="226325" y="2853374"/>
                  </a:cubicBezTo>
                  <a:lnTo>
                    <a:pt x="258015" y="2787590"/>
                  </a:lnTo>
                  <a:lnTo>
                    <a:pt x="224445" y="2657030"/>
                  </a:lnTo>
                  <a:cubicBezTo>
                    <a:pt x="195672" y="2516419"/>
                    <a:pt x="180561" y="2370831"/>
                    <a:pt x="180561" y="2221714"/>
                  </a:cubicBezTo>
                  <a:cubicBezTo>
                    <a:pt x="180561" y="1028779"/>
                    <a:pt x="1147626" y="61714"/>
                    <a:pt x="2340561" y="61714"/>
                  </a:cubicBezTo>
                  <a:cubicBezTo>
                    <a:pt x="2508318" y="61714"/>
                    <a:pt x="2671608" y="80838"/>
                    <a:pt x="2828370" y="117025"/>
                  </a:cubicBezTo>
                  <a:lnTo>
                    <a:pt x="2891183" y="134017"/>
                  </a:lnTo>
                  <a:lnTo>
                    <a:pt x="2983165" y="107897"/>
                  </a:lnTo>
                  <a:cubicBezTo>
                    <a:pt x="3256928" y="37461"/>
                    <a:pt x="3543927" y="0"/>
                    <a:pt x="3839675" y="0"/>
                  </a:cubicBezTo>
                  <a:close/>
                </a:path>
              </a:pathLst>
            </a:custGeom>
            <a:solidFill>
              <a:schemeClr val="bg2">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A73CF8FD-0917-4279-B6E7-120EE392F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1094400"/>
              <a:ext cx="5760000" cy="5760000"/>
            </a:xfrm>
            <a:prstGeom prst="ellipse">
              <a:avLst/>
            </a:prstGeom>
            <a:solidFill>
              <a:schemeClr val="accent1">
                <a:alpha val="4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A3FA15-CF3D-4F2B-BB5C-18E5DB3057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180561" y="61714"/>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776AED5-83E6-4A3D-B609-7CCABAD440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12475" y="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BEFCCBD-4193-CDB1-3F5A-0CAAC3AE007D}"/>
              </a:ext>
            </a:extLst>
          </p:cNvPr>
          <p:cNvSpPr>
            <a:spLocks noGrp="1"/>
          </p:cNvSpPr>
          <p:nvPr>
            <p:ph type="title"/>
          </p:nvPr>
        </p:nvSpPr>
        <p:spPr>
          <a:xfrm>
            <a:off x="540000" y="833015"/>
            <a:ext cx="5958000" cy="5202026"/>
          </a:xfrm>
        </p:spPr>
        <p:txBody>
          <a:bodyPr anchor="ctr">
            <a:normAutofit/>
          </a:bodyPr>
          <a:lstStyle/>
          <a:p>
            <a:pPr algn="ctr"/>
            <a:r>
              <a:rPr lang="en-US" sz="5500"/>
              <a:t>LASER SPACE NETWORK ARCHITECTURE:</a:t>
            </a:r>
          </a:p>
        </p:txBody>
      </p:sp>
      <p:sp>
        <p:nvSpPr>
          <p:cNvPr id="3" name="Content Placeholder 2">
            <a:extLst>
              <a:ext uri="{FF2B5EF4-FFF2-40B4-BE49-F238E27FC236}">
                <a16:creationId xmlns:a16="http://schemas.microsoft.com/office/drawing/2014/main" id="{8D154143-CBE9-18D7-BD59-23A03E37A1DF}"/>
              </a:ext>
            </a:extLst>
          </p:cNvPr>
          <p:cNvSpPr>
            <a:spLocks noGrp="1"/>
          </p:cNvSpPr>
          <p:nvPr>
            <p:ph idx="1"/>
          </p:nvPr>
        </p:nvSpPr>
        <p:spPr>
          <a:xfrm>
            <a:off x="7104062" y="540347"/>
            <a:ext cx="4537075" cy="5760000"/>
          </a:xfrm>
        </p:spPr>
        <p:txBody>
          <a:bodyPr vert="horz" lIns="91440" tIns="45720" rIns="91440" bIns="45720" rtlCol="0" anchor="ctr">
            <a:normAutofit/>
          </a:bodyPr>
          <a:lstStyle/>
          <a:p>
            <a:pPr marL="269875" indent="-269875">
              <a:lnSpc>
                <a:spcPct val="115000"/>
              </a:lnSpc>
            </a:pPr>
            <a:r>
              <a:rPr lang="en-US" sz="1500">
                <a:ea typeface="+mn-lt"/>
                <a:cs typeface="+mn-lt"/>
              </a:rPr>
              <a:t>A laser space network uses </a:t>
            </a:r>
            <a:r>
              <a:rPr lang="en-US" sz="1500" b="1">
                <a:ea typeface="+mn-lt"/>
                <a:cs typeface="+mn-lt"/>
              </a:rPr>
              <a:t>optical (laser) links</a:t>
            </a:r>
            <a:r>
              <a:rPr lang="en-US" sz="1500">
                <a:ea typeface="+mn-lt"/>
                <a:cs typeface="+mn-lt"/>
              </a:rPr>
              <a:t> to connect satellites and ground stations for high-speed communication.</a:t>
            </a:r>
            <a:endParaRPr lang="en-US" sz="1500"/>
          </a:p>
          <a:p>
            <a:pPr marL="269875" indent="-269875">
              <a:lnSpc>
                <a:spcPct val="115000"/>
              </a:lnSpc>
            </a:pPr>
            <a:r>
              <a:rPr lang="en-US" sz="1500">
                <a:ea typeface="+mn-lt"/>
                <a:cs typeface="+mn-lt"/>
              </a:rPr>
              <a:t>🛰️ </a:t>
            </a:r>
            <a:r>
              <a:rPr lang="en-US" sz="1500" b="1">
                <a:ea typeface="+mn-lt"/>
                <a:cs typeface="+mn-lt"/>
              </a:rPr>
              <a:t>Space Segment:</a:t>
            </a:r>
            <a:r>
              <a:rPr lang="en-US" sz="1500">
                <a:ea typeface="+mn-lt"/>
                <a:cs typeface="+mn-lt"/>
              </a:rPr>
              <a:t> Satellites equipped with laser terminals for inter-satellite links</a:t>
            </a:r>
            <a:endParaRPr lang="en-US" sz="1500"/>
          </a:p>
          <a:p>
            <a:pPr marL="269875" indent="-269875">
              <a:lnSpc>
                <a:spcPct val="115000"/>
              </a:lnSpc>
            </a:pPr>
            <a:r>
              <a:rPr lang="en-US" sz="1500">
                <a:ea typeface="+mn-lt"/>
                <a:cs typeface="+mn-lt"/>
              </a:rPr>
              <a:t>🌍 </a:t>
            </a:r>
            <a:r>
              <a:rPr lang="en-US" sz="1500" b="1">
                <a:ea typeface="+mn-lt"/>
                <a:cs typeface="+mn-lt"/>
              </a:rPr>
              <a:t>Ground Segment:</a:t>
            </a:r>
            <a:r>
              <a:rPr lang="en-US" sz="1500">
                <a:ea typeface="+mn-lt"/>
                <a:cs typeface="+mn-lt"/>
              </a:rPr>
              <a:t> Optical ground stations for space–ground data transfer</a:t>
            </a:r>
            <a:endParaRPr lang="en-US" sz="1500"/>
          </a:p>
          <a:p>
            <a:pPr marL="269875" indent="-269875">
              <a:lnSpc>
                <a:spcPct val="115000"/>
              </a:lnSpc>
            </a:pPr>
            <a:r>
              <a:rPr lang="en-US" sz="1500">
                <a:ea typeface="+mn-lt"/>
                <a:cs typeface="+mn-lt"/>
              </a:rPr>
              <a:t>🔗 </a:t>
            </a:r>
            <a:r>
              <a:rPr lang="en-US" sz="1500" b="1">
                <a:ea typeface="+mn-lt"/>
                <a:cs typeface="+mn-lt"/>
              </a:rPr>
              <a:t>Network Topology:</a:t>
            </a:r>
            <a:r>
              <a:rPr lang="en-US" sz="1500">
                <a:ea typeface="+mn-lt"/>
                <a:cs typeface="+mn-lt"/>
              </a:rPr>
              <a:t> Mesh or ring links between satellites for global coverage</a:t>
            </a:r>
            <a:endParaRPr lang="en-US" sz="1500"/>
          </a:p>
          <a:p>
            <a:pPr marL="269875" indent="-269875">
              <a:lnSpc>
                <a:spcPct val="115000"/>
              </a:lnSpc>
            </a:pPr>
            <a:r>
              <a:rPr lang="en-US" sz="1500">
                <a:ea typeface="+mn-lt"/>
                <a:cs typeface="+mn-lt"/>
              </a:rPr>
              <a:t>🧠 </a:t>
            </a:r>
            <a:r>
              <a:rPr lang="en-US" sz="1500" b="1">
                <a:ea typeface="+mn-lt"/>
                <a:cs typeface="+mn-lt"/>
              </a:rPr>
              <a:t>Control &amp; Routing:</a:t>
            </a:r>
            <a:r>
              <a:rPr lang="en-US" sz="1500">
                <a:ea typeface="+mn-lt"/>
                <a:cs typeface="+mn-lt"/>
              </a:rPr>
              <a:t> Onboard processors manage pointing, tracking, and data routing</a:t>
            </a:r>
            <a:endParaRPr lang="en-US" sz="1500"/>
          </a:p>
          <a:p>
            <a:pPr marL="269875" indent="-269875">
              <a:lnSpc>
                <a:spcPct val="115000"/>
              </a:lnSpc>
            </a:pPr>
            <a:r>
              <a:rPr lang="en-US" sz="1500">
                <a:ea typeface="+mn-lt"/>
                <a:cs typeface="+mn-lt"/>
              </a:rPr>
              <a:t>⚡ </a:t>
            </a:r>
            <a:r>
              <a:rPr lang="en-US" sz="1500" b="1">
                <a:ea typeface="+mn-lt"/>
                <a:cs typeface="+mn-lt"/>
              </a:rPr>
              <a:t>Advantages:</a:t>
            </a:r>
            <a:r>
              <a:rPr lang="en-US" sz="1500">
                <a:ea typeface="+mn-lt"/>
                <a:cs typeface="+mn-lt"/>
              </a:rPr>
              <a:t> High data rate, low latency, secure communication</a:t>
            </a:r>
            <a:endParaRPr lang="en-US" sz="1500"/>
          </a:p>
          <a:p>
            <a:pPr marL="269875" indent="-269875">
              <a:lnSpc>
                <a:spcPct val="115000"/>
              </a:lnSpc>
            </a:pPr>
            <a:r>
              <a:rPr lang="en-US" sz="1500">
                <a:ea typeface="+mn-lt"/>
                <a:cs typeface="+mn-lt"/>
              </a:rPr>
              <a:t>⚠️ </a:t>
            </a:r>
            <a:r>
              <a:rPr lang="en-US" sz="1500" b="1">
                <a:ea typeface="+mn-lt"/>
                <a:cs typeface="+mn-lt"/>
              </a:rPr>
              <a:t>Challenges:</a:t>
            </a:r>
            <a:r>
              <a:rPr lang="en-US" sz="1500">
                <a:ea typeface="+mn-lt"/>
                <a:cs typeface="+mn-lt"/>
              </a:rPr>
              <a:t> Precise alignment, atmospheric attenuation, handover management</a:t>
            </a:r>
            <a:endParaRPr lang="en-US" sz="1500"/>
          </a:p>
          <a:p>
            <a:pPr marL="269875" indent="-269875">
              <a:lnSpc>
                <a:spcPct val="115000"/>
              </a:lnSpc>
            </a:pPr>
            <a:endParaRPr lang="en-US" sz="1500"/>
          </a:p>
          <a:p>
            <a:pPr marL="269875" indent="-269875">
              <a:lnSpc>
                <a:spcPct val="115000"/>
              </a:lnSpc>
            </a:pPr>
            <a:endParaRPr lang="en-US" sz="1500"/>
          </a:p>
        </p:txBody>
      </p:sp>
    </p:spTree>
    <p:extLst>
      <p:ext uri="{BB962C8B-B14F-4D97-AF65-F5344CB8AC3E}">
        <p14:creationId xmlns:p14="http://schemas.microsoft.com/office/powerpoint/2010/main" val="3005482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845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36CB-92F0-9F23-A898-D8EB4B84D2C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5CAFCC4-5896-C07B-5A90-344438F6FA37}"/>
              </a:ext>
            </a:extLst>
          </p:cNvPr>
          <p:cNvSpPr>
            <a:spLocks noGrp="1"/>
          </p:cNvSpPr>
          <p:nvPr>
            <p:ph idx="1"/>
          </p:nvPr>
        </p:nvSpPr>
        <p:spPr/>
        <p:txBody>
          <a:bodyPr vert="horz" lIns="91440" tIns="45720" rIns="91440" bIns="45720" rtlCol="0" anchor="t">
            <a:normAutofit/>
          </a:bodyPr>
          <a:lstStyle/>
          <a:p>
            <a:pPr marL="269875" indent="-269875"/>
            <a:r>
              <a:rPr lang="en-US" dirty="0">
                <a:ea typeface="+mn-lt"/>
                <a:cs typeface="+mn-lt"/>
              </a:rPr>
              <a:t>The survey shows that </a:t>
            </a:r>
            <a:r>
              <a:rPr lang="en-US" b="1" dirty="0">
                <a:ea typeface="+mn-lt"/>
                <a:cs typeface="+mn-lt"/>
              </a:rPr>
              <a:t>laser space networks</a:t>
            </a:r>
            <a:r>
              <a:rPr lang="en-US" dirty="0">
                <a:ea typeface="+mn-lt"/>
                <a:cs typeface="+mn-lt"/>
              </a:rPr>
              <a:t> offer </a:t>
            </a:r>
            <a:r>
              <a:rPr lang="en-US" b="1" dirty="0">
                <a:ea typeface="+mn-lt"/>
                <a:cs typeface="+mn-lt"/>
              </a:rPr>
              <a:t>high-speed, secure, and efficient communication</a:t>
            </a:r>
            <a:r>
              <a:rPr lang="en-US" dirty="0">
                <a:ea typeface="+mn-lt"/>
                <a:cs typeface="+mn-lt"/>
              </a:rPr>
              <a:t> through advanced laser terminals, optical links, and network architectures. While challenges like </a:t>
            </a:r>
            <a:r>
              <a:rPr lang="en-US" b="1" dirty="0">
                <a:ea typeface="+mn-lt"/>
                <a:cs typeface="+mn-lt"/>
              </a:rPr>
              <a:t>precise alignment and atmospheric effects</a:t>
            </a:r>
            <a:r>
              <a:rPr lang="en-US" dirty="0">
                <a:ea typeface="+mn-lt"/>
                <a:cs typeface="+mn-lt"/>
              </a:rPr>
              <a:t> remain, continued technological progress makes laser space networks a </a:t>
            </a:r>
            <a:r>
              <a:rPr lang="en-US" b="1" dirty="0">
                <a:ea typeface="+mn-lt"/>
                <a:cs typeface="+mn-lt"/>
              </a:rPr>
              <a:t>key solution for future satellite and space communications</a:t>
            </a:r>
            <a:r>
              <a:rPr lang="en-US" dirty="0">
                <a:ea typeface="+mn-lt"/>
                <a:cs typeface="+mn-lt"/>
              </a:rPr>
              <a:t>.</a:t>
            </a:r>
            <a:endParaRPr lang="en-US" dirty="0"/>
          </a:p>
          <a:p>
            <a:pPr marL="269875" indent="-269875"/>
            <a:endParaRPr lang="en-US" dirty="0"/>
          </a:p>
        </p:txBody>
      </p:sp>
    </p:spTree>
    <p:extLst>
      <p:ext uri="{BB962C8B-B14F-4D97-AF65-F5344CB8AC3E}">
        <p14:creationId xmlns:p14="http://schemas.microsoft.com/office/powerpoint/2010/main" val="385604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460A-35B3-048D-6C21-55A7EBDD18AC}"/>
              </a:ext>
            </a:extLst>
          </p:cNvPr>
          <p:cNvSpPr>
            <a:spLocks noGrp="1"/>
          </p:cNvSpPr>
          <p:nvPr>
            <p:ph type="title"/>
          </p:nvPr>
        </p:nvSpPr>
        <p:spPr>
          <a:xfrm>
            <a:off x="540000" y="1244490"/>
            <a:ext cx="11101135" cy="1105010"/>
          </a:xfrm>
        </p:spPr>
        <p:txBody>
          <a:bodyPr/>
          <a:lstStyle/>
          <a:p>
            <a:r>
              <a:rPr lang="en-US" dirty="0"/>
              <a:t>REFERENCES:</a:t>
            </a:r>
          </a:p>
        </p:txBody>
      </p:sp>
      <p:sp>
        <p:nvSpPr>
          <p:cNvPr id="3" name="Content Placeholder 2">
            <a:extLst>
              <a:ext uri="{FF2B5EF4-FFF2-40B4-BE49-F238E27FC236}">
                <a16:creationId xmlns:a16="http://schemas.microsoft.com/office/drawing/2014/main" id="{A2191497-45B3-A373-BB06-0EEAFED05526}"/>
              </a:ext>
            </a:extLst>
          </p:cNvPr>
          <p:cNvSpPr>
            <a:spLocks noGrp="1"/>
          </p:cNvSpPr>
          <p:nvPr>
            <p:ph idx="1"/>
          </p:nvPr>
        </p:nvSpPr>
        <p:spPr/>
        <p:txBody>
          <a:bodyPr vert="horz" lIns="91440" tIns="45720" rIns="91440" bIns="45720" rtlCol="0" anchor="t">
            <a:normAutofit fontScale="92500" lnSpcReduction="20000"/>
          </a:bodyPr>
          <a:lstStyle/>
          <a:p>
            <a:pPr marL="269875" indent="-269875">
              <a:buFont typeface="Arial"/>
              <a:buChar char="•"/>
            </a:pPr>
            <a:r>
              <a:rPr lang="en-US" dirty="0">
                <a:ea typeface="+mn-lt"/>
                <a:cs typeface="+mn-lt"/>
              </a:rPr>
              <a:t>Hemmati, H. (Ed.), </a:t>
            </a:r>
            <a:r>
              <a:rPr lang="en-US" i="1" dirty="0">
                <a:ea typeface="+mn-lt"/>
                <a:cs typeface="+mn-lt"/>
              </a:rPr>
              <a:t>Near-Earth Laser Communications</a:t>
            </a:r>
            <a:r>
              <a:rPr lang="en-US" dirty="0">
                <a:ea typeface="+mn-lt"/>
                <a:cs typeface="+mn-lt"/>
              </a:rPr>
              <a:t>, CRC Press, 2009.</a:t>
            </a:r>
            <a:endParaRPr lang="en-US" dirty="0"/>
          </a:p>
          <a:p>
            <a:pPr marL="269875" indent="-269875">
              <a:buFont typeface="Arial"/>
              <a:buChar char="•"/>
            </a:pPr>
            <a:r>
              <a:rPr lang="en-US" dirty="0">
                <a:ea typeface="+mn-lt"/>
                <a:cs typeface="+mn-lt"/>
              </a:rPr>
              <a:t>Toyoshima, M., “Trends in Optical Satellite Communications,” </a:t>
            </a:r>
            <a:r>
              <a:rPr lang="en-US" i="1" dirty="0">
                <a:ea typeface="+mn-lt"/>
                <a:cs typeface="+mn-lt"/>
              </a:rPr>
              <a:t>Journal of Optical Networking</a:t>
            </a:r>
            <a:r>
              <a:rPr lang="en-US" dirty="0">
                <a:ea typeface="+mn-lt"/>
                <a:cs typeface="+mn-lt"/>
              </a:rPr>
              <a:t>, 2005.</a:t>
            </a:r>
            <a:endParaRPr lang="en-US" dirty="0"/>
          </a:p>
          <a:p>
            <a:pPr marL="269875" indent="-269875">
              <a:buFont typeface="Arial"/>
              <a:buChar char="•"/>
            </a:pPr>
            <a:r>
              <a:rPr lang="en-US" dirty="0">
                <a:ea typeface="+mn-lt"/>
                <a:cs typeface="+mn-lt"/>
              </a:rPr>
              <a:t>Kaushal, H., &amp; </a:t>
            </a:r>
            <a:r>
              <a:rPr lang="en-US" dirty="0" err="1">
                <a:ea typeface="+mn-lt"/>
                <a:cs typeface="+mn-lt"/>
              </a:rPr>
              <a:t>Kaddoum</a:t>
            </a:r>
            <a:r>
              <a:rPr lang="en-US" dirty="0">
                <a:ea typeface="+mn-lt"/>
                <a:cs typeface="+mn-lt"/>
              </a:rPr>
              <a:t>, G., “Optical Communication in Space: Challenges and Mitigation Techniques,” </a:t>
            </a:r>
            <a:r>
              <a:rPr lang="en-US" i="1" dirty="0">
                <a:ea typeface="+mn-lt"/>
                <a:cs typeface="+mn-lt"/>
              </a:rPr>
              <a:t>IEEE Communications Surveys &amp; Tutorials</a:t>
            </a:r>
            <a:r>
              <a:rPr lang="en-US" dirty="0">
                <a:ea typeface="+mn-lt"/>
                <a:cs typeface="+mn-lt"/>
              </a:rPr>
              <a:t>, 2017.</a:t>
            </a:r>
            <a:endParaRPr lang="en-US" dirty="0"/>
          </a:p>
          <a:p>
            <a:pPr marL="269875" indent="-269875">
              <a:buFont typeface="Arial"/>
              <a:buChar char="•"/>
            </a:pPr>
            <a:r>
              <a:rPr lang="en-US" dirty="0" err="1">
                <a:ea typeface="+mn-lt"/>
                <a:cs typeface="+mn-lt"/>
              </a:rPr>
              <a:t>Giggenbach</a:t>
            </a:r>
            <a:r>
              <a:rPr lang="en-US" dirty="0">
                <a:ea typeface="+mn-lt"/>
                <a:cs typeface="+mn-lt"/>
              </a:rPr>
              <a:t>, D. et al., “Optical Satellite Networks: Architectures and Technologies,” </a:t>
            </a:r>
            <a:r>
              <a:rPr lang="en-US" i="1" dirty="0">
                <a:ea typeface="+mn-lt"/>
                <a:cs typeface="+mn-lt"/>
              </a:rPr>
              <a:t>IEEE Journal on Selected Areas in Communications</a:t>
            </a:r>
            <a:r>
              <a:rPr lang="en-US" dirty="0">
                <a:ea typeface="+mn-lt"/>
                <a:cs typeface="+mn-lt"/>
              </a:rPr>
              <a:t>, 2018.</a:t>
            </a:r>
            <a:endParaRPr lang="en-US" dirty="0"/>
          </a:p>
          <a:p>
            <a:pPr marL="269875" indent="-269875">
              <a:buFont typeface="Arial"/>
              <a:buChar char="•"/>
            </a:pPr>
            <a:r>
              <a:rPr lang="en-US" dirty="0">
                <a:ea typeface="+mn-lt"/>
                <a:cs typeface="+mn-lt"/>
              </a:rPr>
              <a:t>Perlot, N., &amp; </a:t>
            </a:r>
            <a:r>
              <a:rPr lang="en-US" dirty="0" err="1">
                <a:ea typeface="+mn-lt"/>
                <a:cs typeface="+mn-lt"/>
              </a:rPr>
              <a:t>Giggenbach</a:t>
            </a:r>
            <a:r>
              <a:rPr lang="en-US" dirty="0">
                <a:ea typeface="+mn-lt"/>
                <a:cs typeface="+mn-lt"/>
              </a:rPr>
              <a:t>, D., “Optical Inter-Satellite Links for Future Satellite Systems,” </a:t>
            </a:r>
            <a:r>
              <a:rPr lang="en-US" i="1" dirty="0">
                <a:ea typeface="+mn-lt"/>
                <a:cs typeface="+mn-lt"/>
              </a:rPr>
              <a:t>International Journal of Satellite Communications</a:t>
            </a:r>
            <a:r>
              <a:rPr lang="en-US" dirty="0">
                <a:ea typeface="+mn-lt"/>
                <a:cs typeface="+mn-lt"/>
              </a:rPr>
              <a:t>, 2012.</a:t>
            </a:r>
            <a:endParaRPr lang="en-US" dirty="0"/>
          </a:p>
          <a:p>
            <a:pPr marL="269875" indent="-269875">
              <a:buFont typeface="Arial"/>
              <a:buChar char="•"/>
            </a:pPr>
            <a:r>
              <a:rPr lang="en-US" dirty="0">
                <a:ea typeface="+mn-lt"/>
                <a:cs typeface="+mn-lt"/>
              </a:rPr>
              <a:t>European Space Agency (ESA), </a:t>
            </a:r>
            <a:r>
              <a:rPr lang="en-US" i="1" dirty="0">
                <a:ea typeface="+mn-lt"/>
                <a:cs typeface="+mn-lt"/>
              </a:rPr>
              <a:t>Optical and Laser Communications in Space</a:t>
            </a:r>
            <a:r>
              <a:rPr lang="en-US" dirty="0">
                <a:ea typeface="+mn-lt"/>
                <a:cs typeface="+mn-lt"/>
              </a:rPr>
              <a:t>, ESA Publications.</a:t>
            </a:r>
            <a:endParaRPr lang="en-US" dirty="0"/>
          </a:p>
          <a:p>
            <a:pPr marL="269875" indent="-269875">
              <a:buFont typeface="Arial"/>
              <a:buChar char="•"/>
            </a:pPr>
            <a:r>
              <a:rPr lang="en-US" dirty="0">
                <a:ea typeface="+mn-lt"/>
                <a:cs typeface="+mn-lt"/>
              </a:rPr>
              <a:t>NASA, </a:t>
            </a:r>
            <a:r>
              <a:rPr lang="en-US" i="1" dirty="0">
                <a:ea typeface="+mn-lt"/>
                <a:cs typeface="+mn-lt"/>
              </a:rPr>
              <a:t>Laser Communications Relay Demonstration (LCRD) Overview</a:t>
            </a:r>
            <a:r>
              <a:rPr lang="en-US" dirty="0">
                <a:ea typeface="+mn-lt"/>
                <a:cs typeface="+mn-lt"/>
              </a:rPr>
              <a:t>, NASA Technical Reports.</a:t>
            </a:r>
            <a:endParaRPr lang="en-US" dirty="0"/>
          </a:p>
          <a:p>
            <a:pPr marL="0" indent="0">
              <a:buNone/>
            </a:pPr>
            <a:endParaRPr lang="en-US" dirty="0"/>
          </a:p>
        </p:txBody>
      </p:sp>
    </p:spTree>
    <p:extLst>
      <p:ext uri="{BB962C8B-B14F-4D97-AF65-F5344CB8AC3E}">
        <p14:creationId xmlns:p14="http://schemas.microsoft.com/office/powerpoint/2010/main" val="3747670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FC52-8851-2B05-B1A2-5EF07320FFE5}"/>
              </a:ext>
            </a:extLst>
          </p:cNvPr>
          <p:cNvSpPr>
            <a:spLocks noGrp="1"/>
          </p:cNvSpPr>
          <p:nvPr>
            <p:ph type="title"/>
          </p:nvPr>
        </p:nvSpPr>
        <p:spPr>
          <a:xfrm>
            <a:off x="550863" y="2662747"/>
            <a:ext cx="11090275" cy="3645979"/>
          </a:xfrm>
        </p:spPr>
        <p:txBody>
          <a:bodyPr/>
          <a:lstStyle/>
          <a:p>
            <a:r>
              <a:rPr lang="en-US" dirty="0"/>
              <a:t>       THANK YOU</a:t>
            </a:r>
          </a:p>
        </p:txBody>
      </p:sp>
    </p:spTree>
    <p:extLst>
      <p:ext uri="{BB962C8B-B14F-4D97-AF65-F5344CB8AC3E}">
        <p14:creationId xmlns:p14="http://schemas.microsoft.com/office/powerpoint/2010/main" val="2327142345"/>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2.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GlowVTI</vt:lpstr>
      <vt:lpstr>BrushVTI</vt:lpstr>
      <vt:lpstr>A SURVEY ON LASER SPACE NETWORK:TERMINALS,LINKS AND ARCHITECTURES</vt:lpstr>
      <vt:lpstr>ABSTRACT:</vt:lpstr>
      <vt:lpstr>Introduction:</vt:lpstr>
      <vt:lpstr>PowerPoint Presentation</vt:lpstr>
      <vt:lpstr>objectives</vt:lpstr>
      <vt:lpstr>Laser communication terminals:</vt:lpstr>
      <vt:lpstr>PowerPoint Presentation</vt:lpstr>
      <vt:lpstr>Preliminary  knowledge of LCT'S:</vt:lpstr>
      <vt:lpstr>PowerPoint Presentation</vt:lpstr>
      <vt:lpstr>LCT'S PRODUCTS:        </vt:lpstr>
      <vt:lpstr>LASER SPACE LINKS:</vt:lpstr>
      <vt:lpstr>PowerPoint Presentation</vt:lpstr>
      <vt:lpstr>LASER SPACE NETWORK ARCHITECTURE:</vt:lpstr>
      <vt:lpstr>PowerPoint Presentation</vt:lpstr>
      <vt:lpstr>CONCLUSION:</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384</cp:revision>
  <dcterms:created xsi:type="dcterms:W3CDTF">2026-01-12T14:57:19Z</dcterms:created>
  <dcterms:modified xsi:type="dcterms:W3CDTF">2026-01-13T15:08:25Z</dcterms:modified>
</cp:coreProperties>
</file>